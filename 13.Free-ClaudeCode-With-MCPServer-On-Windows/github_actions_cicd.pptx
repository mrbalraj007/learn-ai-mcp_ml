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36576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55448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274320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393192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36576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155448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274320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393192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6576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55448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74320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93192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36576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55448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274320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393192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155448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274320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393192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36576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155448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74320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931920"/>
            <a:ext cx="54864" cy="54864"/>
          </a:xfrm>
          <a:prstGeom prst="ellipse">
            <a:avLst/>
          </a:prstGeom>
          <a:solidFill>
            <a:srgbClr val="30363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914400"/>
            <a:ext cx="6858000" cy="2926080"/>
          </a:xfrm>
          <a:prstGeom prst="rect">
            <a:avLst/>
          </a:prstGeom>
          <a:solidFill>
            <a:srgbClr val="161B22">
              <a:alpha val="80000"/>
            </a:srgbClr>
          </a:solidFill>
          <a:ln w="25400">
            <a:solidFill>
              <a:srgbClr val="238636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822960" cy="8229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60020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3800" dirty="0"/>
          </a:p>
        </p:txBody>
      </p:sp>
      <p:sp>
        <p:nvSpPr>
          <p:cNvPr id="30" name="Text 27"/>
          <p:cNvSpPr/>
          <p:nvPr/>
        </p:nvSpPr>
        <p:spPr>
          <a:xfrm>
            <a:off x="640080" y="17830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Basics to Enterprise CI/CD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4008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Covering: Workflows · OIDC Auth · PR Scans · Branch Strategy · Demo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40080" y="2926080"/>
            <a:ext cx="1143000" cy="292608"/>
          </a:xfrm>
          <a:prstGeom prst="rect">
            <a:avLst/>
          </a:prstGeom>
          <a:solidFill>
            <a:srgbClr val="238636">
              <a:alpha val="6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" y="2926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AWS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920240" y="2926080"/>
            <a:ext cx="1143000" cy="292608"/>
          </a:xfrm>
          <a:prstGeom prst="rect">
            <a:avLst/>
          </a:prstGeom>
          <a:solidFill>
            <a:srgbClr val="238636">
              <a:alpha val="6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20240" y="2926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Azure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200400" y="2926080"/>
            <a:ext cx="1143000" cy="292608"/>
          </a:xfrm>
          <a:prstGeom prst="rect">
            <a:avLst/>
          </a:prstGeom>
          <a:solidFill>
            <a:srgbClr val="238636">
              <a:alpha val="6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0" y="2926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Terraform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480560" y="2926080"/>
            <a:ext cx="1143000" cy="292608"/>
          </a:xfrm>
          <a:prstGeom prst="rect">
            <a:avLst/>
          </a:prstGeom>
          <a:solidFill>
            <a:srgbClr val="238636">
              <a:alpha val="6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80560" y="2926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Docker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760720" y="2926080"/>
            <a:ext cx="1143000" cy="292608"/>
          </a:xfrm>
          <a:prstGeom prst="rect">
            <a:avLst/>
          </a:prstGeom>
          <a:solidFill>
            <a:srgbClr val="238636">
              <a:alpha val="6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60720" y="2926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Security Scanning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 Presentation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976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777240"/>
          </a:xfrm>
          <a:prstGeom prst="rect">
            <a:avLst/>
          </a:prstGeom>
          <a:solidFill>
            <a:srgbClr val="2386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24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106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GitHub Actions?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435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how it fits into DevOps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2976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11680"/>
            <a:ext cx="64008" cy="777240"/>
          </a:xfrm>
          <a:prstGeom prst="rect">
            <a:avLst/>
          </a:prstGeom>
          <a:solidFill>
            <a:srgbClr val="2386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848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066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Components Deep-Dive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Workflows, Jobs, Steps, Runners, Contexts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2976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64008" cy="777240"/>
          </a:xfrm>
          <a:prstGeom prst="rect">
            <a:avLst/>
          </a:prstGeom>
          <a:solidFill>
            <a:srgbClr val="2386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44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026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Authentication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355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cloud access — AWS &amp; Azure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42976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31920"/>
            <a:ext cx="64008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05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Scan Pipeline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315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security checks on Pull Requests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42976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51560"/>
            <a:ext cx="64008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124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1106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 CI/CD Pipeline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1435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→ Deploy workflow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011680"/>
            <a:ext cx="42976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011680"/>
            <a:ext cx="64008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0848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2066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Strategy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Trunk-based, GitFlow &amp; protection rules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971800"/>
            <a:ext cx="42976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971800"/>
            <a:ext cx="64008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044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49240" y="3026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3355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with real output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GitHub Actions?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CI/CD automation built into your repository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4747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34747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645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automates your software workflows.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pipelines on push, PR, schedule, or any GitHub event.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as YAML inside .github/workflows/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798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GitHub-hosted or self-hosted runners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GitHub API and event integration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3456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with 20,000+ community Actions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785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minutes for public repos, paid for private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4114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builds, reusable workflows &amp; more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17720" y="1005840"/>
            <a:ext cx="192024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188720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252728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49240" y="12618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 Containers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766560" y="1005840"/>
            <a:ext cx="192024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903720" y="1188720"/>
            <a:ext cx="502920" cy="50292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25272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8080" y="12618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SAST Scans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17720" y="2194560"/>
            <a:ext cx="192024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37744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44144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9240" y="24505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766560" y="2194560"/>
            <a:ext cx="192024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903720" y="237744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244144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98080" y="24505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Kubernetes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617720" y="3383280"/>
            <a:ext cx="192024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54880" y="3566160"/>
            <a:ext cx="502920" cy="502920"/>
          </a:xfrm>
          <a:prstGeom prst="ellipse">
            <a:avLst/>
          </a:prstGeom>
          <a:solidFill>
            <a:srgbClr val="238636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630168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49240" y="36393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766560" y="3383280"/>
            <a:ext cx="192024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903720" y="3566160"/>
            <a:ext cx="502920" cy="502920"/>
          </a:xfrm>
          <a:prstGeom prst="ellipse">
            <a:avLst/>
          </a:prstGeom>
          <a:solidFill>
            <a:srgbClr val="E3711A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28" y="3630168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498080" y="36393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Components of GitHub 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the puzzle — and why it matters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96596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965960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1115568"/>
            <a:ext cx="411480" cy="411480"/>
          </a:xfrm>
          <a:prstGeom prst="ellipse">
            <a:avLst/>
          </a:prstGeom>
          <a:solidFill>
            <a:srgbClr val="238636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17043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1155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162763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 in .github/workflows/. Defines the full automation — trigger, jobs, and logic.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04872" y="1005840"/>
            <a:ext cx="196596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04872" y="1005840"/>
            <a:ext cx="196596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78024" y="1115568"/>
            <a:ext cx="411480" cy="4114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17043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53512" y="11155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(on:)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496312" y="162763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WHEN the workflow runs. push, pull_request, schedule, workflow_dispatch, etc.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81144" y="1005840"/>
            <a:ext cx="196596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81144" y="1005840"/>
            <a:ext cx="1965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54296" y="1115568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7043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9784" y="11155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672584" y="162763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steps that run in sequence on the same runner. Jobs run in parallel by default.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757416" y="1005840"/>
            <a:ext cx="196596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57416" y="1005840"/>
            <a:ext cx="1965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30568" y="1115568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17043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06056" y="11155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848856" y="162763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task inside a job. Either a shell command (run:) or a reusable Action (uses:).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228600" y="2926080"/>
            <a:ext cx="196596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228600" y="2926080"/>
            <a:ext cx="1965960" cy="54864"/>
          </a:xfrm>
          <a:prstGeom prst="rect">
            <a:avLst/>
          </a:prstGeom>
          <a:solidFill>
            <a:srgbClr val="E3711A"/>
          </a:solidFill>
          <a:ln w="12700">
            <a:solidFill>
              <a:srgbClr val="E3711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01752" y="3035808"/>
            <a:ext cx="411480" cy="411480"/>
          </a:xfrm>
          <a:prstGeom prst="ellipse">
            <a:avLst/>
          </a:prstGeom>
          <a:solidFill>
            <a:srgbClr val="E3711A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3090672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77240" y="30358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20040" y="354787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VM or container executing the job. GitHub-hosted (ubuntu-latest, windows) or self-hosted.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2404872" y="2926080"/>
            <a:ext cx="196596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404872" y="2926080"/>
            <a:ext cx="196596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2478024" y="3035808"/>
            <a:ext cx="411480" cy="4114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2888" y="3090672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953512" y="30358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2496312" y="354787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reusable, publishable unit of code. From GitHub Marketplace or your own repo.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4581144" y="2926080"/>
            <a:ext cx="196596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581144" y="2926080"/>
            <a:ext cx="1965960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4654296" y="3035808"/>
            <a:ext cx="411480" cy="41148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090672"/>
            <a:ext cx="292608" cy="29260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129784" y="30358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4672584" y="354787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environment variables. Set at Repo, Environment, or Org level — never logged.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6757416" y="2926080"/>
            <a:ext cx="196596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757416" y="2926080"/>
            <a:ext cx="1965960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6830568" y="3035808"/>
            <a:ext cx="411480" cy="411480"/>
          </a:xfrm>
          <a:prstGeom prst="ellipse">
            <a:avLst/>
          </a:prstGeom>
          <a:solidFill>
            <a:srgbClr val="8B949E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5432" y="3090672"/>
            <a:ext cx="292608" cy="29260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306056" y="30358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Expressions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6848856" y="354787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runtime data: github.*, env.*, secrets.*, steps.* — used with ${{ }}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YAML Anatomy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structure of a workflow file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66344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241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.github/workflows/deploy.yml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Deploy to Production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48590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80594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96596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12598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28600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24460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60604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76606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id-token: write   # OIDC required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contents: read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308610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340614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356616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" y="372618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 production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388620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40462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420624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Configure AWS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436626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aws-actions/configure-aws-credentials@v4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452628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0040" y="468630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role-to-assume: ${{ vars.AWS_ROLE }}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005840"/>
            <a:ext cx="374904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74920" y="1005840"/>
            <a:ext cx="64008" cy="5486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04241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12801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workflow name shown in GitHub UI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74920" y="1664208"/>
            <a:ext cx="374904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74920" y="1664208"/>
            <a:ext cx="64008" cy="54864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170078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1938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push, PR, schedule, workflow_dispatch, repository_dispatch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74920" y="2322576"/>
            <a:ext cx="374904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74920" y="2322576"/>
            <a:ext cx="64008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23591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2080" y="25968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scopes. Required for OIDC token generation.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74920" y="2980944"/>
            <a:ext cx="374904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74920" y="2980944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30175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32552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by default. Use needs: to chain them sequentially.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74920" y="3639312"/>
            <a:ext cx="374904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74920" y="3639312"/>
            <a:ext cx="64008" cy="548640"/>
          </a:xfrm>
          <a:prstGeom prst="rect">
            <a:avLst/>
          </a:prstGeom>
          <a:solidFill>
            <a:srgbClr val="E3711A"/>
          </a:solidFill>
          <a:ln w="12700">
            <a:solidFill>
              <a:srgbClr val="E371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36758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71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runs-on: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12080" y="39136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label. ubuntu-latest, windows-latest, or self-hosted tags.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074920" y="4297680"/>
            <a:ext cx="374904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074920" y="4297680"/>
            <a:ext cx="64008" cy="5486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43342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12080" y="45720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task list. Mix run: commands and uses: actions freely.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Authentication — Keyless Cloud Access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secrets. GitHub mints short-lived tokens automatically.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OIDC?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344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AWS_ACCESS_KEY / client secrets stored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 only for job duration (~15 min)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892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auditable via CloudTrail / Entra logs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167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— signed JWT from GitHub OIDC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651760"/>
            <a:ext cx="173736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651760"/>
            <a:ext cx="1737360" cy="6400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Workflow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0" y="3108960"/>
            <a:ext cx="411480" cy="0"/>
          </a:xfrm>
          <a:prstGeom prst="line">
            <a:avLst/>
          </a:prstGeom>
          <a:noFill/>
          <a:ln w="25400">
            <a:solidFill>
              <a:srgbClr val="2386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990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8636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0280" y="2651760"/>
            <a:ext cx="173736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40280" y="2651760"/>
            <a:ext cx="1737360" cy="6400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mints JWT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3108960"/>
            <a:ext cx="41148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990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FEB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1960" y="2651760"/>
            <a:ext cx="173736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E371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2651760"/>
            <a:ext cx="1737360" cy="64008"/>
          </a:xfrm>
          <a:prstGeom prst="rect">
            <a:avLst/>
          </a:prstGeom>
          <a:solidFill>
            <a:srgbClr val="E3711A"/>
          </a:solidFill>
          <a:ln w="12700">
            <a:solidFill>
              <a:srgbClr val="E371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AWS/Azure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JWT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108960"/>
            <a:ext cx="411480" cy="0"/>
          </a:xfrm>
          <a:prstGeom prst="line">
            <a:avLst/>
          </a:prstGeom>
          <a:noFill/>
          <a:ln w="25400">
            <a:solidFill>
              <a:srgbClr val="E371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990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711A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2651760"/>
            <a:ext cx="173736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2651760"/>
            <a:ext cx="17373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Temp creds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703320"/>
            <a:ext cx="420624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OIDC Setup (Terraform)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050792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"aws_iam_openid_connect_provider" "github" {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" y="4215384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= "https://token.actions.githubusercontent.com"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0040" y="4379976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client_id_list = ["sts.amazonaws.com"]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" y="4544568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thumbprint_list = ["&lt;github-thumbprint&gt;"]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" y="4709160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3703320"/>
            <a:ext cx="420624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OIDC Setup (GitHub Actions step)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4050792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azure/login@v2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4880" y="4215384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0" y="4379976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client-id: ${{ secrets.AZURE_CLIENT_ID }}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0" y="4544568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tenant-id: ${{ secrets.AZURE_TENANT_ID }}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0" y="4709160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subscription-id: ${{ secrets.AZURE_SUB_ID }}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Scan Pipeline — Protect the Codebase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pull request runs a suite of automated quality &amp; security gates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28016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280160" cy="6400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8B949E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170432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16184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36192" y="149047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691640" y="960120"/>
            <a:ext cx="128016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91640" y="960120"/>
            <a:ext cx="1280160" cy="6400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03120" y="1097280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1170432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16184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999232" y="149047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FE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154680" y="960120"/>
            <a:ext cx="128016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154680" y="960120"/>
            <a:ext cx="1280160" cy="6400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566160" y="1097280"/>
            <a:ext cx="457200" cy="457200"/>
          </a:xfrm>
          <a:prstGeom prst="ellipse">
            <a:avLst/>
          </a:prstGeom>
          <a:solidFill>
            <a:srgbClr val="238636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170432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200400" y="16184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462272" y="149047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8636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617720" y="960120"/>
            <a:ext cx="128016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E371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17720" y="960120"/>
            <a:ext cx="1280160" cy="64008"/>
          </a:xfrm>
          <a:prstGeom prst="rect">
            <a:avLst/>
          </a:prstGeom>
          <a:solidFill>
            <a:srgbClr val="E3711A"/>
          </a:solidFill>
          <a:ln w="12700">
            <a:solidFill>
              <a:srgbClr val="E3711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029200" y="1097280"/>
            <a:ext cx="457200" cy="457200"/>
          </a:xfrm>
          <a:prstGeom prst="ellipse">
            <a:avLst/>
          </a:prstGeom>
          <a:solidFill>
            <a:srgbClr val="E3711A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170432"/>
            <a:ext cx="301752" cy="3017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663440" y="16184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925312" y="149047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711A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080760" y="960120"/>
            <a:ext cx="128016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080760" y="960120"/>
            <a:ext cx="128016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492240" y="1097280"/>
            <a:ext cx="457200" cy="45720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1170432"/>
            <a:ext cx="301752" cy="30175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126480" y="16184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7388352" y="149047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5149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7543800" y="960120"/>
            <a:ext cx="128016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543800" y="960120"/>
            <a:ext cx="12801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955280" y="10972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432" y="1170432"/>
            <a:ext cx="301752" cy="30175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589520" y="16184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228600" y="251460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  →  PR can be merged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228600" y="2834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check FAILS  →  PR is blocked, developer notified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228600" y="32461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in PR Scan Pipeline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584448"/>
          <a:ext cx="8686800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Super-Linter / ESLint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 &amp; style enforcement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to PR branch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/ Jest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&amp; integration tests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to PR branch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Checkov / KICS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policy scanning (Terraform, K8s)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to PR branch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Gitleaks / Trufflehog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&amp; credential scanning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to PR branch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terraform-compliance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policy-as-code for infra rules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to PR branch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 CI/CD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merge to main — builds, tests, and deploys to production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920240" cy="3566160"/>
          </a:xfrm>
          <a:prstGeom prst="rect">
            <a:avLst/>
          </a:prstGeom>
          <a:solidFill>
            <a:srgbClr val="21262D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920240" cy="6400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097280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6128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664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8328" y="20299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38328" y="254203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Node/Java/Python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8328" y="3054096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8328" y="3566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artifact / Docker image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176272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6FEB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404872" y="960120"/>
            <a:ext cx="1920240" cy="3566160"/>
          </a:xfrm>
          <a:prstGeom prst="rect">
            <a:avLst/>
          </a:prstGeom>
          <a:solidFill>
            <a:srgbClr val="21262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04872" y="96012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18104" y="109728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16128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496312" y="1664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514600" y="20299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unit tests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514600" y="254203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514600" y="3054096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report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514600" y="3566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test results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352544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581144" y="960120"/>
            <a:ext cx="1920240" cy="3566160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581144" y="960120"/>
            <a:ext cx="192024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294376" y="1097280"/>
            <a:ext cx="502920" cy="50292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161288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672584" y="1664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690872" y="20299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image scan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690872" y="254203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Dependency check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4690872" y="3054096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Scout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690872" y="3566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on CRITICAL CVEs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528816" y="2560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5149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6757416" y="960120"/>
            <a:ext cx="1920240" cy="3566160"/>
          </a:xfrm>
          <a:prstGeom prst="rect">
            <a:avLst/>
          </a:prstGeom>
          <a:solidFill>
            <a:srgbClr val="21262D"/>
          </a:solidFill>
          <a:ln w="12700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757416" y="960120"/>
            <a:ext cx="1920240" cy="6400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470648" y="1097280"/>
            <a:ext cx="502920" cy="502920"/>
          </a:xfrm>
          <a:prstGeom prst="ellipse">
            <a:avLst/>
          </a:prstGeom>
          <a:solidFill>
            <a:srgbClr val="238636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161288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48856" y="1664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6867144" y="20299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auth to AWS/Azure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6867144" y="254203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image to ECR/ACR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6867144" y="3054096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Terraform / kubectl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867144" y="3566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 notification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Text 39"/>
          <p:cNvSpPr/>
          <p:nvPr/>
        </p:nvSpPr>
        <p:spPr>
          <a:xfrm>
            <a:off x="411480" y="46908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Chaining with needs: — Test needs Build, Security needs Test, Deploy needs Security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Environments, Protection Rules &amp; Approvals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promotion across Dev → Staging → Production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51760" cy="2103120"/>
          </a:xfrm>
          <a:prstGeom prst="rect">
            <a:avLst/>
          </a:prstGeom>
          <a:solidFill>
            <a:srgbClr val="21262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every main merge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gates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155448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Auto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44368" y="18288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82112" y="960120"/>
            <a:ext cx="2651760" cy="2103120"/>
          </a:xfrm>
          <a:prstGeom prst="rect">
            <a:avLst/>
          </a:prstGeom>
          <a:solidFill>
            <a:srgbClr val="21262D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960120"/>
            <a:ext cx="2651760" cy="6400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078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19272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after dev 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reviewer required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30752" y="2286000"/>
            <a:ext cx="1554480" cy="548640"/>
          </a:xfrm>
          <a:prstGeom prst="rect">
            <a:avLst/>
          </a:prstGeom>
          <a:solidFill>
            <a:srgbClr val="1F6FEB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30752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1 Approver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18288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6FE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89904" y="960120"/>
            <a:ext cx="2651760" cy="2103120"/>
          </a:xfrm>
          <a:prstGeom prst="rect">
            <a:avLst/>
          </a:prstGeom>
          <a:solidFill>
            <a:srgbClr val="21262D"/>
          </a:solidFill>
          <a:ln w="12700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960120"/>
            <a:ext cx="2651760" cy="6400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1078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27064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gate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reviewers + branch policy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38544" y="2286000"/>
            <a:ext cx="1554480" cy="548640"/>
          </a:xfrm>
          <a:prstGeom prst="rect">
            <a:avLst/>
          </a:prstGeom>
          <a:solidFill>
            <a:srgbClr val="238636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38544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2 Approvers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2461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Environment-Scoped Secrets vs Repo Secrets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93592"/>
          <a:ext cx="8595360" cy="13716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workflows in repo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infra creds, shared API keys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(dev)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referencing environment: 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Dev-specific DB, DEV_AWS_ROLE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(prod)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referencing environment: 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 credentials, PROD_AWS_ROLE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repos in the org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tokens, shared scanning keys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structure branches to control what triggers which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57200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GitFlow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188720" cy="32004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81912" y="1618488"/>
            <a:ext cx="228600" cy="0"/>
          </a:xfrm>
          <a:prstGeom prst="line">
            <a:avLst/>
          </a:prstGeom>
          <a:noFill/>
          <a:ln w="19050">
            <a:solidFill>
              <a:srgbClr val="2386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554480"/>
            <a:ext cx="155448" cy="155448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65960"/>
            <a:ext cx="1188720" cy="3200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81912" y="2121408"/>
            <a:ext cx="22860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057400"/>
            <a:ext cx="155448" cy="1554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68880"/>
            <a:ext cx="118872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feature/*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81912" y="2624328"/>
            <a:ext cx="2286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2560320"/>
            <a:ext cx="155448" cy="1554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71800"/>
            <a:ext cx="1188720" cy="320040"/>
          </a:xfrm>
          <a:prstGeom prst="rect">
            <a:avLst/>
          </a:prstGeom>
          <a:solidFill>
            <a:srgbClr val="E3711A"/>
          </a:solidFill>
          <a:ln w="12700">
            <a:solidFill>
              <a:srgbClr val="E371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release/*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81912" y="3127248"/>
            <a:ext cx="228600" cy="0"/>
          </a:xfrm>
          <a:prstGeom prst="line">
            <a:avLst/>
          </a:prstGeom>
          <a:noFill/>
          <a:ln w="19050">
            <a:solidFill>
              <a:srgbClr val="E371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3063240"/>
            <a:ext cx="155448" cy="155448"/>
          </a:xfrm>
          <a:prstGeom prst="ellipse">
            <a:avLst/>
          </a:prstGeom>
          <a:solidFill>
            <a:srgbClr val="E3711A"/>
          </a:solidFill>
          <a:ln w="12700">
            <a:solidFill>
              <a:srgbClr val="E371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474720"/>
            <a:ext cx="1188720" cy="3200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hotfix/*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81912" y="3630168"/>
            <a:ext cx="228600" cy="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3566160"/>
            <a:ext cx="155448" cy="15544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1952" y="1618488"/>
            <a:ext cx="0" cy="320040"/>
          </a:xfrm>
          <a:prstGeom prst="line">
            <a:avLst/>
          </a:prstGeom>
          <a:noFill/>
          <a:ln w="12700">
            <a:solidFill>
              <a:srgbClr val="1F6FE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148840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only. Tagged releases.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48840" y="2011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branch. CI always runs.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48840" y="2514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scan triggered on open/sync.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48840" y="3017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+ final testing before merge.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48840" y="3520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fixes → merge to main + develop.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83480" y="960120"/>
            <a:ext cx="393192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7492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 Development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long-lived branch: main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7492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feature branches (&lt; 2 days)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74920" y="1975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control release, not branches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749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triggers full CI pipeline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83480" y="2834640"/>
            <a:ext cx="3931920" cy="2057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74920" y="2880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Rules (main)</a:t>
            </a:r>
            <a:endParaRPr lang="en-US" sz="11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3246120"/>
            <a:ext cx="201168" cy="201168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5349240" y="3246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PR reviews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766560" y="32461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2 approvals before merge</a:t>
            </a:r>
            <a:endParaRPr lang="en-US" sz="850" dirty="0"/>
          </a:p>
        </p:txBody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566160"/>
            <a:ext cx="201168" cy="20116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5349240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checks must pass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766560" y="35661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 jobs green</a:t>
            </a:r>
            <a:endParaRPr lang="en-US" sz="850" dirty="0"/>
          </a:p>
        </p:txBody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886200"/>
            <a:ext cx="201168" cy="201168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5349240" y="3886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linear history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6766560" y="38862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merge commits, rebase only</a:t>
            </a:r>
            <a:endParaRPr lang="en-US" sz="85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4206240"/>
            <a:ext cx="201168" cy="201168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349240" y="4206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force pushes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6766560" y="4206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admins can override</a:t>
            </a:r>
            <a:endParaRPr lang="en-US" sz="850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526280"/>
            <a:ext cx="201168" cy="201168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5349240" y="4526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signed commits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6766560" y="45262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GPG-verified commits only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— Reusable Workflows &amp; Matrix Builds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your pipelines without repeating YAML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07899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143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011680"/>
            <a:ext cx="256032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93192" y="207568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call-lint: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uses: ./.github/workflows/lint.yml@main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node-version: "20"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secrets: inherit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0040" y="34930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once, call from any workflow.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inputs, outputs, and secret passing.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960120"/>
            <a:ext cx="274320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960120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1078992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1430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Builds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91840" y="2011680"/>
            <a:ext cx="256032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364992" y="207568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os: [ubuntu-latest, windows-latest]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node: [18, 20, 22]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fail-fast: false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291840" y="34930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job across multiple configs in parallel.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fail-fast: false lets all combos complete.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72200" y="960120"/>
            <a:ext cx="274320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E371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960120"/>
            <a:ext cx="2743200" cy="64008"/>
          </a:xfrm>
          <a:prstGeom prst="rect">
            <a:avLst/>
          </a:prstGeom>
          <a:solidFill>
            <a:srgbClr val="E3711A"/>
          </a:solidFill>
          <a:ln w="12700">
            <a:solidFill>
              <a:srgbClr val="E3711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69480" y="1078992"/>
            <a:ext cx="502920" cy="502920"/>
          </a:xfrm>
          <a:prstGeom prst="ellipse">
            <a:avLst/>
          </a:prstGeom>
          <a:solidFill>
            <a:srgbClr val="E3711A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14300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6364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7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Actions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63640" y="2011680"/>
            <a:ext cx="256032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6336792" y="207568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using: composite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run: echo "Hello ${{ inputs.name }}"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shell: bash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263640" y="34930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multiple steps as a single reusable Action.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your repo under .github/actions/.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411480" y="46908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Combine reusable workflows + matrix builds to test across 20+ environments with ~10 lines of YAML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End-to-End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app: PR scan → main merge → Docker build → ECR push → ECS deploy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65176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651760" cy="6400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15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115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 Branch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627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feature/add-health-endpoint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07792" y="14630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36392" y="1005840"/>
            <a:ext cx="265176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005840"/>
            <a:ext cx="2651760" cy="6400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115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30752" y="1115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Pull Request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1627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 scan: lint + tests + Gitleaks + Checkov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15584" y="14630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FE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44184" y="1005840"/>
            <a:ext cx="265176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44184" y="1005840"/>
            <a:ext cx="2651760" cy="6400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1115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38544" y="1115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53912" y="1627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shows green checkmarks, PR approved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651760"/>
            <a:ext cx="265176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65176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27614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2960" y="2761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" y="327355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main pipeline automatically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07792" y="3108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136392" y="2651760"/>
            <a:ext cx="265176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36392" y="2651760"/>
            <a:ext cx="2651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27614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730752" y="2761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 Image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327355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→ ECR login → docker build → docker push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15584" y="3108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44184" y="2651760"/>
            <a:ext cx="265176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E371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44184" y="2651760"/>
            <a:ext cx="2651760" cy="64008"/>
          </a:xfrm>
          <a:prstGeom prst="rect">
            <a:avLst/>
          </a:prstGeom>
          <a:solidFill>
            <a:srgbClr val="E3711A"/>
          </a:solidFill>
          <a:ln w="12700">
            <a:solidFill>
              <a:srgbClr val="E371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27614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7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38544" y="2761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ECS / K8s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53912" y="327355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 update / kubectl rollout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4462272"/>
            <a:ext cx="86868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" y="449884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Demo Repo: github.com/mrbalraj007/github-actions-demo  |  Branch: feature/add-health-endpoint  |  All YAML in .github/workflows/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Common Pitfalls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a reliable pipeline from a flaky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206240" cy="6400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4356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action versions to a SHA: actions/checkout@a12a3943b4bdde767164f792f33...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9110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OIDC instead of long-lived cloud credentials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38658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permissions at the job level, not workflow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8620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dependencies (actions/cache) — saves 2-5 min per run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3375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concurrency groups to cancel stale PR runs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8130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sensitive values in Secrets, non-sensitive in Vars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428853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timeout-minutes to every job to prevent runaway costs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206240" cy="3931920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60120"/>
            <a:ext cx="420624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DON'T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4356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hardcode secrets in YAML — they appear in logs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0025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deploy jobs on forks — check github.event_name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56946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set-env and add-path — deprecated, security risk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313639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skip branch protection for 'quick hotfixes'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37033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overuse self-hosted runners without security hardening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427024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uploading build artifacts without retention limits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828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286000"/>
            <a:ext cx="54864" cy="4572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4086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3317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are YAML — readable, version-controlled, and auditable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57200" y="2816352"/>
            <a:ext cx="8229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2816352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7121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8620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eliminates long-lived secrets — use it for every cloud provider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" y="3346704"/>
            <a:ext cx="8229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57200" y="3346704"/>
            <a:ext cx="54864" cy="4572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401568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39242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scans catch issues before they land on main — automate everything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57200" y="3877056"/>
            <a:ext cx="8229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71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57200" y="3877056"/>
            <a:ext cx="54864" cy="457200"/>
          </a:xfrm>
          <a:prstGeom prst="rect">
            <a:avLst/>
          </a:prstGeom>
          <a:solidFill>
            <a:srgbClr val="E3711A"/>
          </a:solidFill>
          <a:ln w="12700">
            <a:solidFill>
              <a:srgbClr val="E3711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93192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05840" y="392277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strategy defines your release confidence — protect main always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57200" y="4407408"/>
            <a:ext cx="54864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462272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5840" y="44531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push to production can be fully automated, audited, and safe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914400" y="4846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Actions – From Zero to Enterprise CI/CD</dc:title>
  <dc:subject>PptxGenJS Presentation</dc:subject>
  <dc:creator>PptxGenJS</dc:creator>
  <cp:lastModifiedBy>PptxGenJS</cp:lastModifiedBy>
  <cp:revision>1</cp:revision>
  <dcterms:created xsi:type="dcterms:W3CDTF">2026-06-01T09:40:47Z</dcterms:created>
  <dcterms:modified xsi:type="dcterms:W3CDTF">2026-06-01T09:40:47Z</dcterms:modified>
</cp:coreProperties>
</file>