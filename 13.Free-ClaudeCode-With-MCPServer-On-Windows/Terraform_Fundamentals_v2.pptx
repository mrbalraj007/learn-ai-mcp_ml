
<file path=[Content_Types].xml><?xml version="1.0" encoding="utf-8"?>
<Types xmlns="http://schemas.openxmlformats.org/package/2006/content-types">
  <Default Extension="gif" ContentType="image/gi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77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3" r:id="rId18"/>
    <p:sldId id="278" r:id="rId19"/>
    <p:sldId id="271" r:id="rId20"/>
    <p:sldId id="272" r:id="rId21"/>
    <p:sldId id="274" r:id="rId22"/>
    <p:sldId id="276" r:id="rId23"/>
    <p:sldId id="275" r:id="rId2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E8DF6FB-9ACA-470E-BAFE-8F9863E5953B}" v="49" dt="2026-05-28T23:01:26.64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25E5076-3810-47DD-B79F-674D7AD40C01}" styleName="Dark Style 1 –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132" y="11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lraj Singh" userId="ebb3560a-49c8-4fe6-88be-cab19d206209" providerId="ADAL" clId="{61DE5220-E41B-45DA-B74E-167A1F9548F3}"/>
    <pc:docChg chg="undo custSel addSld delSld modSld sldOrd">
      <pc:chgData name="Balraj Singh" userId="ebb3560a-49c8-4fe6-88be-cab19d206209" providerId="ADAL" clId="{61DE5220-E41B-45DA-B74E-167A1F9548F3}" dt="2026-05-28T23:03:37.302" v="835"/>
      <pc:docMkLst>
        <pc:docMk/>
      </pc:docMkLst>
      <pc:sldChg chg="modSp mod">
        <pc:chgData name="Balraj Singh" userId="ebb3560a-49c8-4fe6-88be-cab19d206209" providerId="ADAL" clId="{61DE5220-E41B-45DA-B74E-167A1F9548F3}" dt="2026-05-28T22:54:34.881" v="747" actId="113"/>
        <pc:sldMkLst>
          <pc:docMk/>
          <pc:sldMk cId="0" sldId="263"/>
        </pc:sldMkLst>
        <pc:spChg chg="mod">
          <ac:chgData name="Balraj Singh" userId="ebb3560a-49c8-4fe6-88be-cab19d206209" providerId="ADAL" clId="{61DE5220-E41B-45DA-B74E-167A1F9548F3}" dt="2026-05-28T22:52:59.664" v="714"/>
          <ac:spMkLst>
            <pc:docMk/>
            <pc:sldMk cId="0" sldId="263"/>
            <ac:spMk id="7" creationId="{00000000-0000-0000-0000-000000000000}"/>
          </ac:spMkLst>
        </pc:spChg>
        <pc:spChg chg="mod">
          <ac:chgData name="Balraj Singh" userId="ebb3560a-49c8-4fe6-88be-cab19d206209" providerId="ADAL" clId="{61DE5220-E41B-45DA-B74E-167A1F9548F3}" dt="2026-05-28T22:53:48.849" v="726" actId="207"/>
          <ac:spMkLst>
            <pc:docMk/>
            <pc:sldMk cId="0" sldId="263"/>
            <ac:spMk id="11" creationId="{00000000-0000-0000-0000-000000000000}"/>
          </ac:spMkLst>
        </pc:spChg>
        <pc:spChg chg="mod">
          <ac:chgData name="Balraj Singh" userId="ebb3560a-49c8-4fe6-88be-cab19d206209" providerId="ADAL" clId="{61DE5220-E41B-45DA-B74E-167A1F9548F3}" dt="2026-05-28T22:54:34.881" v="747" actId="113"/>
          <ac:spMkLst>
            <pc:docMk/>
            <pc:sldMk cId="0" sldId="263"/>
            <ac:spMk id="15" creationId="{00000000-0000-0000-0000-000000000000}"/>
          </ac:spMkLst>
        </pc:spChg>
      </pc:sldChg>
      <pc:sldChg chg="modNotesTx">
        <pc:chgData name="Balraj Singh" userId="ebb3560a-49c8-4fe6-88be-cab19d206209" providerId="ADAL" clId="{61DE5220-E41B-45DA-B74E-167A1F9548F3}" dt="2026-05-28T06:09:21.563" v="682" actId="20577"/>
        <pc:sldMkLst>
          <pc:docMk/>
          <pc:sldMk cId="0" sldId="268"/>
        </pc:sldMkLst>
      </pc:sldChg>
      <pc:sldChg chg="ord">
        <pc:chgData name="Balraj Singh" userId="ebb3560a-49c8-4fe6-88be-cab19d206209" providerId="ADAL" clId="{61DE5220-E41B-45DA-B74E-167A1F9548F3}" dt="2026-05-28T23:00:47.190" v="749"/>
        <pc:sldMkLst>
          <pc:docMk/>
          <pc:sldMk cId="0" sldId="271"/>
        </pc:sldMkLst>
      </pc:sldChg>
      <pc:sldChg chg="addSp delSp modSp mod">
        <pc:chgData name="Balraj Singh" userId="ebb3560a-49c8-4fe6-88be-cab19d206209" providerId="ADAL" clId="{61DE5220-E41B-45DA-B74E-167A1F9548F3}" dt="2026-05-27T23:47:35.665" v="344" actId="12385"/>
        <pc:sldMkLst>
          <pc:docMk/>
          <pc:sldMk cId="0" sldId="272"/>
        </pc:sldMkLst>
        <pc:spChg chg="mod">
          <ac:chgData name="Balraj Singh" userId="ebb3560a-49c8-4fe6-88be-cab19d206209" providerId="ADAL" clId="{61DE5220-E41B-45DA-B74E-167A1F9548F3}" dt="2026-05-27T23:36:45.998" v="65" actId="1076"/>
          <ac:spMkLst>
            <pc:docMk/>
            <pc:sldMk cId="0" sldId="272"/>
            <ac:spMk id="3" creationId="{00000000-0000-0000-0000-000000000000}"/>
          </ac:spMkLst>
        </pc:spChg>
        <pc:spChg chg="mod">
          <ac:chgData name="Balraj Singh" userId="ebb3560a-49c8-4fe6-88be-cab19d206209" providerId="ADAL" clId="{61DE5220-E41B-45DA-B74E-167A1F9548F3}" dt="2026-05-27T23:36:49.198" v="66" actId="1076"/>
          <ac:spMkLst>
            <pc:docMk/>
            <pc:sldMk cId="0" sldId="272"/>
            <ac:spMk id="4" creationId="{00000000-0000-0000-0000-000000000000}"/>
          </ac:spMkLst>
        </pc:spChg>
        <pc:spChg chg="mod">
          <ac:chgData name="Balraj Singh" userId="ebb3560a-49c8-4fe6-88be-cab19d206209" providerId="ADAL" clId="{61DE5220-E41B-45DA-B74E-167A1F9548F3}" dt="2026-05-27T23:36:55.371" v="104" actId="1036"/>
          <ac:spMkLst>
            <pc:docMk/>
            <pc:sldMk cId="0" sldId="272"/>
            <ac:spMk id="5" creationId="{00000000-0000-0000-0000-000000000000}"/>
          </ac:spMkLst>
        </pc:spChg>
        <pc:spChg chg="del mod">
          <ac:chgData name="Balraj Singh" userId="ebb3560a-49c8-4fe6-88be-cab19d206209" providerId="ADAL" clId="{61DE5220-E41B-45DA-B74E-167A1F9548F3}" dt="2026-05-27T23:36:05.544" v="59" actId="478"/>
          <ac:spMkLst>
            <pc:docMk/>
            <pc:sldMk cId="0" sldId="272"/>
            <ac:spMk id="6" creationId="{00000000-0000-0000-0000-000000000000}"/>
          </ac:spMkLst>
        </pc:spChg>
        <pc:graphicFrameChg chg="add mod modGraphic">
          <ac:chgData name="Balraj Singh" userId="ebb3560a-49c8-4fe6-88be-cab19d206209" providerId="ADAL" clId="{61DE5220-E41B-45DA-B74E-167A1F9548F3}" dt="2026-05-27T23:47:35.665" v="344" actId="12385"/>
          <ac:graphicFrameMkLst>
            <pc:docMk/>
            <pc:sldMk cId="0" sldId="272"/>
            <ac:graphicFrameMk id="8" creationId="{D365D20E-B05A-A977-8DBA-A9600EC5D093}"/>
          </ac:graphicFrameMkLst>
        </pc:graphicFrameChg>
      </pc:sldChg>
      <pc:sldChg chg="modSp mod ord">
        <pc:chgData name="Balraj Singh" userId="ebb3560a-49c8-4fe6-88be-cab19d206209" providerId="ADAL" clId="{61DE5220-E41B-45DA-B74E-167A1F9548F3}" dt="2026-05-26T23:32:25.599" v="7" actId="1076"/>
        <pc:sldMkLst>
          <pc:docMk/>
          <pc:sldMk cId="0" sldId="273"/>
        </pc:sldMkLst>
        <pc:spChg chg="mod">
          <ac:chgData name="Balraj Singh" userId="ebb3560a-49c8-4fe6-88be-cab19d206209" providerId="ADAL" clId="{61DE5220-E41B-45DA-B74E-167A1F9548F3}" dt="2026-05-26T23:32:11.617" v="4" actId="14100"/>
          <ac:spMkLst>
            <pc:docMk/>
            <pc:sldMk cId="0" sldId="273"/>
            <ac:spMk id="10" creationId="{00000000-0000-0000-0000-000000000000}"/>
          </ac:spMkLst>
        </pc:spChg>
        <pc:spChg chg="mod">
          <ac:chgData name="Balraj Singh" userId="ebb3560a-49c8-4fe6-88be-cab19d206209" providerId="ADAL" clId="{61DE5220-E41B-45DA-B74E-167A1F9548F3}" dt="2026-05-26T23:32:16.444" v="5" actId="1076"/>
          <ac:spMkLst>
            <pc:docMk/>
            <pc:sldMk cId="0" sldId="273"/>
            <ac:spMk id="16" creationId="{00000000-0000-0000-0000-000000000000}"/>
          </ac:spMkLst>
        </pc:spChg>
        <pc:spChg chg="mod">
          <ac:chgData name="Balraj Singh" userId="ebb3560a-49c8-4fe6-88be-cab19d206209" providerId="ADAL" clId="{61DE5220-E41B-45DA-B74E-167A1F9548F3}" dt="2026-05-26T23:32:25.599" v="7" actId="1076"/>
          <ac:spMkLst>
            <pc:docMk/>
            <pc:sldMk cId="0" sldId="273"/>
            <ac:spMk id="26" creationId="{00000000-0000-0000-0000-000000000000}"/>
          </ac:spMkLst>
        </pc:spChg>
        <pc:spChg chg="mod">
          <ac:chgData name="Balraj Singh" userId="ebb3560a-49c8-4fe6-88be-cab19d206209" providerId="ADAL" clId="{61DE5220-E41B-45DA-B74E-167A1F9548F3}" dt="2026-05-26T23:32:21.223" v="6" actId="1076"/>
          <ac:spMkLst>
            <pc:docMk/>
            <pc:sldMk cId="0" sldId="273"/>
            <ac:spMk id="32" creationId="{00000000-0000-0000-0000-000000000000}"/>
          </ac:spMkLst>
        </pc:spChg>
      </pc:sldChg>
      <pc:sldChg chg="modSp add mod">
        <pc:chgData name="Balraj Singh" userId="ebb3560a-49c8-4fe6-88be-cab19d206209" providerId="ADAL" clId="{61DE5220-E41B-45DA-B74E-167A1F9548F3}" dt="2026-05-28T02:40:58.399" v="681" actId="6549"/>
        <pc:sldMkLst>
          <pc:docMk/>
          <pc:sldMk cId="3715516981" sldId="274"/>
        </pc:sldMkLst>
        <pc:spChg chg="mod">
          <ac:chgData name="Balraj Singh" userId="ebb3560a-49c8-4fe6-88be-cab19d206209" providerId="ADAL" clId="{61DE5220-E41B-45DA-B74E-167A1F9548F3}" dt="2026-05-27T23:41:38.656" v="241" actId="14100"/>
          <ac:spMkLst>
            <pc:docMk/>
            <pc:sldMk cId="3715516981" sldId="274"/>
            <ac:spMk id="3" creationId="{6B1C514B-B70A-CD7E-3233-DBE09070D6EF}"/>
          </ac:spMkLst>
        </pc:spChg>
        <pc:spChg chg="mod">
          <ac:chgData name="Balraj Singh" userId="ebb3560a-49c8-4fe6-88be-cab19d206209" providerId="ADAL" clId="{61DE5220-E41B-45DA-B74E-167A1F9548F3}" dt="2026-05-27T23:41:43.504" v="242" actId="1076"/>
          <ac:spMkLst>
            <pc:docMk/>
            <pc:sldMk cId="3715516981" sldId="274"/>
            <ac:spMk id="4" creationId="{A1392743-2E8C-B4F5-5B66-D39449455816}"/>
          </ac:spMkLst>
        </pc:spChg>
        <pc:spChg chg="mod">
          <ac:chgData name="Balraj Singh" userId="ebb3560a-49c8-4fe6-88be-cab19d206209" providerId="ADAL" clId="{61DE5220-E41B-45DA-B74E-167A1F9548F3}" dt="2026-05-27T23:41:51.110" v="259" actId="1036"/>
          <ac:spMkLst>
            <pc:docMk/>
            <pc:sldMk cId="3715516981" sldId="274"/>
            <ac:spMk id="5" creationId="{B64729F2-249F-2C13-3D23-5B6CFB19CEC8}"/>
          </ac:spMkLst>
        </pc:spChg>
        <pc:spChg chg="mod">
          <ac:chgData name="Balraj Singh" userId="ebb3560a-49c8-4fe6-88be-cab19d206209" providerId="ADAL" clId="{61DE5220-E41B-45DA-B74E-167A1F9548F3}" dt="2026-05-28T02:40:58.399" v="681" actId="6549"/>
          <ac:spMkLst>
            <pc:docMk/>
            <pc:sldMk cId="3715516981" sldId="274"/>
            <ac:spMk id="6" creationId="{FA6FF5E9-DB59-43FD-24CC-C3C83052CD3F}"/>
          </ac:spMkLst>
        </pc:spChg>
      </pc:sldChg>
      <pc:sldChg chg="delSp modSp add mod">
        <pc:chgData name="Balraj Singh" userId="ebb3560a-49c8-4fe6-88be-cab19d206209" providerId="ADAL" clId="{61DE5220-E41B-45DA-B74E-167A1F9548F3}" dt="2026-05-27T23:51:28.505" v="365" actId="1076"/>
        <pc:sldMkLst>
          <pc:docMk/>
          <pc:sldMk cId="2346578347" sldId="275"/>
        </pc:sldMkLst>
        <pc:spChg chg="mod">
          <ac:chgData name="Balraj Singh" userId="ebb3560a-49c8-4fe6-88be-cab19d206209" providerId="ADAL" clId="{61DE5220-E41B-45DA-B74E-167A1F9548F3}" dt="2026-05-27T23:51:21.794" v="364" actId="1036"/>
          <ac:spMkLst>
            <pc:docMk/>
            <pc:sldMk cId="2346578347" sldId="275"/>
            <ac:spMk id="2" creationId="{92A86F4C-3A8A-4833-342E-02AE57BFD583}"/>
          </ac:spMkLst>
        </pc:spChg>
        <pc:spChg chg="mod">
          <ac:chgData name="Balraj Singh" userId="ebb3560a-49c8-4fe6-88be-cab19d206209" providerId="ADAL" clId="{61DE5220-E41B-45DA-B74E-167A1F9548F3}" dt="2026-05-27T23:51:28.505" v="365" actId="1076"/>
          <ac:spMkLst>
            <pc:docMk/>
            <pc:sldMk cId="2346578347" sldId="275"/>
            <ac:spMk id="3" creationId="{44FD1024-C679-FDDD-0F62-885E0E597B25}"/>
          </ac:spMkLst>
        </pc:spChg>
        <pc:spChg chg="mod">
          <ac:chgData name="Balraj Singh" userId="ebb3560a-49c8-4fe6-88be-cab19d206209" providerId="ADAL" clId="{61DE5220-E41B-45DA-B74E-167A1F9548F3}" dt="2026-05-27T23:51:21.794" v="364" actId="1036"/>
          <ac:spMkLst>
            <pc:docMk/>
            <pc:sldMk cId="2346578347" sldId="275"/>
            <ac:spMk id="4" creationId="{8AF1D212-0AD9-0C89-D8EA-CBDDA74FED26}"/>
          </ac:spMkLst>
        </pc:spChg>
        <pc:spChg chg="mod">
          <ac:chgData name="Balraj Singh" userId="ebb3560a-49c8-4fe6-88be-cab19d206209" providerId="ADAL" clId="{61DE5220-E41B-45DA-B74E-167A1F9548F3}" dt="2026-05-27T23:51:21.794" v="364" actId="1036"/>
          <ac:spMkLst>
            <pc:docMk/>
            <pc:sldMk cId="2346578347" sldId="275"/>
            <ac:spMk id="5" creationId="{61B2BAEC-9A1A-A65C-471F-731E1E74CCF9}"/>
          </ac:spMkLst>
        </pc:spChg>
        <pc:spChg chg="del">
          <ac:chgData name="Balraj Singh" userId="ebb3560a-49c8-4fe6-88be-cab19d206209" providerId="ADAL" clId="{61DE5220-E41B-45DA-B74E-167A1F9548F3}" dt="2026-05-27T23:49:48.487" v="349" actId="478"/>
          <ac:spMkLst>
            <pc:docMk/>
            <pc:sldMk cId="2346578347" sldId="275"/>
            <ac:spMk id="6" creationId="{EBAB9BAA-2273-802A-5A6F-ABCA1EEC2DF5}"/>
          </ac:spMkLst>
        </pc:spChg>
        <pc:spChg chg="mod">
          <ac:chgData name="Balraj Singh" userId="ebb3560a-49c8-4fe6-88be-cab19d206209" providerId="ADAL" clId="{61DE5220-E41B-45DA-B74E-167A1F9548F3}" dt="2026-05-27T23:51:21.794" v="364" actId="1036"/>
          <ac:spMkLst>
            <pc:docMk/>
            <pc:sldMk cId="2346578347" sldId="275"/>
            <ac:spMk id="7" creationId="{95B64770-26A0-C79C-37BE-07725003F915}"/>
          </ac:spMkLst>
        </pc:spChg>
      </pc:sldChg>
      <pc:sldChg chg="add del setBg">
        <pc:chgData name="Balraj Singh" userId="ebb3560a-49c8-4fe6-88be-cab19d206209" providerId="ADAL" clId="{61DE5220-E41B-45DA-B74E-167A1F9548F3}" dt="2026-05-27T23:49:13.304" v="347" actId="2696"/>
        <pc:sldMkLst>
          <pc:docMk/>
          <pc:sldMk cId="0" sldId="276"/>
        </pc:sldMkLst>
      </pc:sldChg>
      <pc:sldChg chg="addSp delSp modSp add mod">
        <pc:chgData name="Balraj Singh" userId="ebb3560a-49c8-4fe6-88be-cab19d206209" providerId="ADAL" clId="{61DE5220-E41B-45DA-B74E-167A1F9548F3}" dt="2026-05-28T23:01:58.063" v="829" actId="20577"/>
        <pc:sldMkLst>
          <pc:docMk/>
          <pc:sldMk cId="2899190600" sldId="276"/>
        </pc:sldMkLst>
        <pc:spChg chg="mod">
          <ac:chgData name="Balraj Singh" userId="ebb3560a-49c8-4fe6-88be-cab19d206209" providerId="ADAL" clId="{61DE5220-E41B-45DA-B74E-167A1F9548F3}" dt="2026-05-28T02:28:22.488" v="383" actId="20577"/>
          <ac:spMkLst>
            <pc:docMk/>
            <pc:sldMk cId="2899190600" sldId="276"/>
            <ac:spMk id="3" creationId="{C6CC1475-FB2C-3ECB-A92B-F6303B121C20}"/>
          </ac:spMkLst>
        </pc:spChg>
        <pc:spChg chg="add del mod">
          <ac:chgData name="Balraj Singh" userId="ebb3560a-49c8-4fe6-88be-cab19d206209" providerId="ADAL" clId="{61DE5220-E41B-45DA-B74E-167A1F9548F3}" dt="2026-05-28T02:40:07.641" v="662" actId="1076"/>
          <ac:spMkLst>
            <pc:docMk/>
            <pc:sldMk cId="2899190600" sldId="276"/>
            <ac:spMk id="4" creationId="{C7D33C2F-F4CC-2CD6-D268-B6A449C7A0E8}"/>
          </ac:spMkLst>
        </pc:spChg>
        <pc:spChg chg="add del">
          <ac:chgData name="Balraj Singh" userId="ebb3560a-49c8-4fe6-88be-cab19d206209" providerId="ADAL" clId="{61DE5220-E41B-45DA-B74E-167A1F9548F3}" dt="2026-05-28T02:28:48.802" v="389" actId="478"/>
          <ac:spMkLst>
            <pc:docMk/>
            <pc:sldMk cId="2899190600" sldId="276"/>
            <ac:spMk id="5" creationId="{0095C597-F1D8-A6FF-215D-1347CD20F94E}"/>
          </ac:spMkLst>
        </pc:spChg>
        <pc:spChg chg="mod">
          <ac:chgData name="Balraj Singh" userId="ebb3560a-49c8-4fe6-88be-cab19d206209" providerId="ADAL" clId="{61DE5220-E41B-45DA-B74E-167A1F9548F3}" dt="2026-05-28T23:01:58.063" v="829" actId="20577"/>
          <ac:spMkLst>
            <pc:docMk/>
            <pc:sldMk cId="2899190600" sldId="276"/>
            <ac:spMk id="6" creationId="{1418FF77-03B9-CD0D-6DD9-C2481BC1323F}"/>
          </ac:spMkLst>
        </pc:spChg>
      </pc:sldChg>
      <pc:sldChg chg="delSp modSp add mod">
        <pc:chgData name="Balraj Singh" userId="ebb3560a-49c8-4fe6-88be-cab19d206209" providerId="ADAL" clId="{61DE5220-E41B-45DA-B74E-167A1F9548F3}" dt="2026-05-28T22:47:54.197" v="693" actId="1076"/>
        <pc:sldMkLst>
          <pc:docMk/>
          <pc:sldMk cId="2825100230" sldId="277"/>
        </pc:sldMkLst>
        <pc:spChg chg="mod">
          <ac:chgData name="Balraj Singh" userId="ebb3560a-49c8-4fe6-88be-cab19d206209" providerId="ADAL" clId="{61DE5220-E41B-45DA-B74E-167A1F9548F3}" dt="2026-05-28T22:47:54.197" v="693" actId="1076"/>
          <ac:spMkLst>
            <pc:docMk/>
            <pc:sldMk cId="2825100230" sldId="277"/>
            <ac:spMk id="4" creationId="{4AD05EF2-97CD-A651-B1D4-9CFC59C5DA2F}"/>
          </ac:spMkLst>
        </pc:spChg>
        <pc:spChg chg="del">
          <ac:chgData name="Balraj Singh" userId="ebb3560a-49c8-4fe6-88be-cab19d206209" providerId="ADAL" clId="{61DE5220-E41B-45DA-B74E-167A1F9548F3}" dt="2026-05-28T22:47:49.999" v="692" actId="478"/>
          <ac:spMkLst>
            <pc:docMk/>
            <pc:sldMk cId="2825100230" sldId="277"/>
            <ac:spMk id="5" creationId="{1EB9728D-EB77-619E-C056-86810C8FBE93}"/>
          </ac:spMkLst>
        </pc:spChg>
        <pc:spChg chg="del">
          <ac:chgData name="Balraj Singh" userId="ebb3560a-49c8-4fe6-88be-cab19d206209" providerId="ADAL" clId="{61DE5220-E41B-45DA-B74E-167A1F9548F3}" dt="2026-05-28T22:47:47.484" v="691" actId="478"/>
          <ac:spMkLst>
            <pc:docMk/>
            <pc:sldMk cId="2825100230" sldId="277"/>
            <ac:spMk id="6" creationId="{AF418547-FCC9-C000-1A74-35708F9A7E24}"/>
          </ac:spMkLst>
        </pc:spChg>
        <pc:spChg chg="del">
          <ac:chgData name="Balraj Singh" userId="ebb3560a-49c8-4fe6-88be-cab19d206209" providerId="ADAL" clId="{61DE5220-E41B-45DA-B74E-167A1F9548F3}" dt="2026-05-28T22:47:44.606" v="690" actId="478"/>
          <ac:spMkLst>
            <pc:docMk/>
            <pc:sldMk cId="2825100230" sldId="277"/>
            <ac:spMk id="7" creationId="{1C1A1BDC-25DF-66DF-FA68-A80C3749062F}"/>
          </ac:spMkLst>
        </pc:spChg>
      </pc:sldChg>
      <pc:sldChg chg="addSp modSp add mod ord">
        <pc:chgData name="Balraj Singh" userId="ebb3560a-49c8-4fe6-88be-cab19d206209" providerId="ADAL" clId="{61DE5220-E41B-45DA-B74E-167A1F9548F3}" dt="2026-05-28T23:03:37.302" v="835"/>
        <pc:sldMkLst>
          <pc:docMk/>
          <pc:sldMk cId="4123971776" sldId="278"/>
        </pc:sldMkLst>
        <pc:picChg chg="add mod">
          <ac:chgData name="Balraj Singh" userId="ebb3560a-49c8-4fe6-88be-cab19d206209" providerId="ADAL" clId="{61DE5220-E41B-45DA-B74E-167A1F9548F3}" dt="2026-05-28T23:03:23.756" v="831" actId="931"/>
          <ac:picMkLst>
            <pc:docMk/>
            <pc:sldMk cId="4123971776" sldId="278"/>
            <ac:picMk id="8" creationId="{236146F8-2FA8-24C5-B148-3F185E932458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15952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mind-core.com/blogs/claude-code-vs-github-copilot-real-difference/" TargetMode="External"/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8E312-91E1-24AD-5B50-794FBD796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8F2BF9-120F-785E-4357-D235AA6B65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E726BD-FCB5-D927-727B-72D473776B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CD01A2-F487-2DE4-6413-3CD342A107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8980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b="1" dirty="0"/>
              <a:t>Primary Difference (The Core Idea)</a:t>
            </a:r>
          </a:p>
          <a:p>
            <a:r>
              <a:rPr lang="en-AU" b="1" dirty="0"/>
              <a:t>GitHub Copilot</a:t>
            </a:r>
            <a:r>
              <a:rPr lang="en-AU" dirty="0"/>
              <a:t> is a suggestion engine that predicts the next line of code based on what you're typing and presents it for you to accept or reject, while </a:t>
            </a:r>
            <a:r>
              <a:rPr lang="en-AU" b="1" dirty="0"/>
              <a:t>Claude Code</a:t>
            </a:r>
            <a:r>
              <a:rPr lang="en-AU" dirty="0"/>
              <a:t> is an agentic system that reads your entire codebase, plans what needs to be done, executes changes across multiple files, and iterates on its own. </a:t>
            </a:r>
            <a:r>
              <a:rPr lang="en-AU" dirty="0">
                <a:hlinkClick r:id="rId3"/>
              </a:rPr>
              <a:t>Mind-core</a:t>
            </a:r>
            <a:br>
              <a:rPr lang="en-AU" dirty="0"/>
            </a:br>
            <a:endParaRPr lang="en-AU" dirty="0"/>
          </a:p>
          <a:p>
            <a:r>
              <a:rPr lang="en-AU" dirty="0"/>
              <a:t>Think of it this way:</a:t>
            </a:r>
          </a:p>
          <a:p>
            <a:r>
              <a:rPr lang="en-AU" b="1" dirty="0"/>
              <a:t>Copilot</a:t>
            </a:r>
            <a:r>
              <a:rPr lang="en-AU" dirty="0"/>
              <a:t> = A helpful autocomplete that speeds up your typing (line-by-line help)</a:t>
            </a:r>
          </a:p>
          <a:p>
            <a:r>
              <a:rPr lang="en-AU" b="1" dirty="0"/>
              <a:t>Claude Code</a:t>
            </a:r>
            <a:r>
              <a:rPr lang="en-AU" dirty="0"/>
              <a:t> = A junior engineer that understands your whole project and can tackle bigger tasks (full project tasks)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4E729D-EC65-3A26-2E76-4656A59AA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FDB7DB-1E28-A0B9-EA4C-8CF9EA02D0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4E7203-0B90-34EA-CE2E-4128D5B6CA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CE876D-08C9-5481-9692-1789F123E4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0516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62F391-588B-B222-56A0-6B2018DB4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52FE84-0002-8479-D44A-5856FDE9B2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457F0C-C9E7-F550-272E-DFD0A25A19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14D7B2-B9E0-3888-825B-C816ABFA42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97883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9829D1-EDA9-5B92-7869-67F54BF35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DEF7AA-EE0C-D988-F4E8-34B34426F7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CB136C-F19C-F0CD-FF37-1A9A7C73C6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4FA058-5A64-E9B5-BA28-7AC271A1C4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52773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163AE6-4EC6-D4FE-EB8C-A2B758401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5A5D07-85E3-A493-A9C5-37DC5DD240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B82549-F3E7-8A25-FDC0-87EAB33BE0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15D587-15BE-606E-09DC-D0225FC5C9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3327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skills" TargetMode="External"/><Relationship Id="rId3" Type="http://schemas.openxmlformats.org/officeDocument/2006/relationships/hyperlink" Target="https://developer.hashicorp.com/terraform/tutorials/sandbox" TargetMode="External"/><Relationship Id="rId7" Type="http://schemas.openxmlformats.org/officeDocument/2006/relationships/hyperlink" Target="https://learngitbranching.js.org/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azure.microsoft.com/en-au/free/" TargetMode="External"/><Relationship Id="rId5" Type="http://schemas.openxmlformats.org/officeDocument/2006/relationships/hyperlink" Target="https://cloud.google.com/free" TargetMode="External"/><Relationship Id="rId4" Type="http://schemas.openxmlformats.org/officeDocument/2006/relationships/hyperlink" Target="https://aws.amazon.com/free/" TargetMode="Externa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9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256032" y="2834640"/>
            <a:ext cx="8887968" cy="4572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800" b="1" kern="0" spc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594360" y="166420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kern="0" spc="400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94360" y="23317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as Code — Team Knowledge Session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30358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Files  ·  Hidden Directories  ·  Core Commands  ·  Claude Code + MCP + NVIDIA NIM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94360" y="47365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Training  |  Infrastructure Team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95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140616-DEFF-7076-F539-6D526D5C9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6853F5D-9F4E-00F1-2A6B-01C199EFEA84}"/>
              </a:ext>
            </a:extLst>
          </p:cNvPr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37462E5-7176-3C24-5EFE-F0EDBFFD8637}"/>
              </a:ext>
            </a:extLst>
          </p:cNvPr>
          <p:cNvSpPr/>
          <p:nvPr/>
        </p:nvSpPr>
        <p:spPr>
          <a:xfrm>
            <a:off x="256032" y="2834640"/>
            <a:ext cx="8887968" cy="4572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AD05EF2-97CD-A651-B1D4-9CFC59C5DA2F}"/>
              </a:ext>
            </a:extLst>
          </p:cNvPr>
          <p:cNvSpPr/>
          <p:nvPr/>
        </p:nvSpPr>
        <p:spPr>
          <a:xfrm>
            <a:off x="1195252" y="1770017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800" b="1" kern="0" spc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TERRAFORM</a:t>
            </a:r>
            <a:endParaRPr lang="en-US" sz="58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137DF2B2-424B-A59A-5B26-71A964362CA4}"/>
              </a:ext>
            </a:extLst>
          </p:cNvPr>
          <p:cNvSpPr/>
          <p:nvPr/>
        </p:nvSpPr>
        <p:spPr>
          <a:xfrm>
            <a:off x="594360" y="47365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Training  |  Infrastructure Team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8251002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56032" y="1170432"/>
            <a:ext cx="42519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5" name="Shape 3"/>
          <p:cNvSpPr/>
          <p:nvPr/>
        </p:nvSpPr>
        <p:spPr>
          <a:xfrm>
            <a:off x="256032" y="1170432"/>
            <a:ext cx="502920" cy="658368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256032" y="1170432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77824" y="1234440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Terraform?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77824" y="1517904"/>
            <a:ext cx="3520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 concept and why it matters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63440" y="1170432"/>
            <a:ext cx="42519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0" name="Shape 8"/>
          <p:cNvSpPr/>
          <p:nvPr/>
        </p:nvSpPr>
        <p:spPr>
          <a:xfrm>
            <a:off x="4663440" y="1170432"/>
            <a:ext cx="502920" cy="658368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Text 9"/>
          <p:cNvSpPr/>
          <p:nvPr/>
        </p:nvSpPr>
        <p:spPr>
          <a:xfrm>
            <a:off x="4663440" y="1170432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285232" y="1234440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File Types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285232" y="1517904"/>
            <a:ext cx="3520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.tf files and their purpose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56032" y="1929384"/>
            <a:ext cx="42519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5" name="Shape 13"/>
          <p:cNvSpPr/>
          <p:nvPr/>
        </p:nvSpPr>
        <p:spPr>
          <a:xfrm>
            <a:off x="256032" y="1929384"/>
            <a:ext cx="502920" cy="658368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6" name="Text 14"/>
          <p:cNvSpPr/>
          <p:nvPr/>
        </p:nvSpPr>
        <p:spPr>
          <a:xfrm>
            <a:off x="256032" y="1929384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77824" y="1993392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Files &amp; Folders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77824" y="2276856"/>
            <a:ext cx="3520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.terraform/  ·  .lock.hcl  ·  tfstate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63440" y="1929384"/>
            <a:ext cx="42519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0" name="Shape 18"/>
          <p:cNvSpPr/>
          <p:nvPr/>
        </p:nvSpPr>
        <p:spPr>
          <a:xfrm>
            <a:off x="4663440" y="1929384"/>
            <a:ext cx="502920" cy="658368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1" name="Text 19"/>
          <p:cNvSpPr/>
          <p:nvPr/>
        </p:nvSpPr>
        <p:spPr>
          <a:xfrm>
            <a:off x="4663440" y="1929384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285232" y="1993392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 That Create Them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285232" y="2276856"/>
            <a:ext cx="3520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init, plan, apply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56032" y="2688336"/>
            <a:ext cx="42519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5" name="Shape 23"/>
          <p:cNvSpPr/>
          <p:nvPr/>
        </p:nvSpPr>
        <p:spPr>
          <a:xfrm>
            <a:off x="256032" y="2688336"/>
            <a:ext cx="502920" cy="658368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6" name="Text 24"/>
          <p:cNvSpPr/>
          <p:nvPr/>
        </p:nvSpPr>
        <p:spPr>
          <a:xfrm>
            <a:off x="256032" y="2688336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77824" y="2752344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Terraform Workflow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77824" y="3035808"/>
            <a:ext cx="3520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lifecycle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63440" y="2688336"/>
            <a:ext cx="42519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0" name="Shape 28"/>
          <p:cNvSpPr/>
          <p:nvPr/>
        </p:nvSpPr>
        <p:spPr>
          <a:xfrm>
            <a:off x="4663440" y="2688336"/>
            <a:ext cx="502920" cy="658368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1" name="Text 29"/>
          <p:cNvSpPr/>
          <p:nvPr/>
        </p:nvSpPr>
        <p:spPr>
          <a:xfrm>
            <a:off x="4663440" y="2688336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285232" y="2752344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 Structure &amp; .gitignore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285232" y="3035808"/>
            <a:ext cx="3520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keep and what to exclude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56032" y="3447288"/>
            <a:ext cx="42519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5" name="Shape 33"/>
          <p:cNvSpPr/>
          <p:nvPr/>
        </p:nvSpPr>
        <p:spPr>
          <a:xfrm>
            <a:off x="256032" y="3447288"/>
            <a:ext cx="502920" cy="658368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6" name="Text 34"/>
          <p:cNvSpPr/>
          <p:nvPr/>
        </p:nvSpPr>
        <p:spPr>
          <a:xfrm>
            <a:off x="256032" y="3447288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77824" y="3511296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+ MCP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877824" y="3794760"/>
            <a:ext cx="3520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Terraform with MCP protocol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663440" y="3447288"/>
            <a:ext cx="42519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40" name="Shape 38"/>
          <p:cNvSpPr/>
          <p:nvPr/>
        </p:nvSpPr>
        <p:spPr>
          <a:xfrm>
            <a:off x="4663440" y="3447288"/>
            <a:ext cx="502920" cy="658368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1" name="Text 39"/>
          <p:cNvSpPr/>
          <p:nvPr/>
        </p:nvSpPr>
        <p:spPr>
          <a:xfrm>
            <a:off x="4663440" y="3447288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285232" y="3511296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MCP Server (uv)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5285232" y="3794760"/>
            <a:ext cx="3520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MCP server setup and tools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256032" y="4206240"/>
            <a:ext cx="42519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45" name="Shape 43"/>
          <p:cNvSpPr/>
          <p:nvPr/>
        </p:nvSpPr>
        <p:spPr>
          <a:xfrm>
            <a:off x="256032" y="4206240"/>
            <a:ext cx="502920" cy="658368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6" name="Text 44"/>
          <p:cNvSpPr/>
          <p:nvPr/>
        </p:nvSpPr>
        <p:spPr>
          <a:xfrm>
            <a:off x="256032" y="420624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877824" y="4270248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NIM Proxy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877824" y="4553712"/>
            <a:ext cx="3520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LLM inference layer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663440" y="4206240"/>
            <a:ext cx="42519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50" name="Shape 48"/>
          <p:cNvSpPr/>
          <p:nvPr/>
        </p:nvSpPr>
        <p:spPr>
          <a:xfrm>
            <a:off x="4663440" y="4206240"/>
            <a:ext cx="502920" cy="658368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1" name="Text 49"/>
          <p:cNvSpPr/>
          <p:nvPr/>
        </p:nvSpPr>
        <p:spPr>
          <a:xfrm>
            <a:off x="4663440" y="420624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5285232" y="4270248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Stack Integration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5285232" y="4553712"/>
            <a:ext cx="3520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+ MCP + Claude Code + NIM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TERRAFORM?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115568"/>
            <a:ext cx="50292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/>
          <p:nvPr/>
        </p:nvSpPr>
        <p:spPr>
          <a:xfrm>
            <a:off x="438912" y="1207008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Infrastructure as Code tool by HashiCorp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38912" y="1664208"/>
            <a:ext cx="46634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declarative HCL (HashiCorp Configuration Language) — you describe WHAT you want, Terraform figures out HOW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cloud resources on AWS, Azure, GCP, and 1,000+ providers via plugins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a state file to know what infrastructure currently exists vs what is desired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are previewed safely before any real infrastructure is touched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config lives in version control — auditable, reviewable, repeatable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577840" y="1170432"/>
            <a:ext cx="32918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8" name="Shape 6"/>
          <p:cNvSpPr/>
          <p:nvPr/>
        </p:nvSpPr>
        <p:spPr>
          <a:xfrm>
            <a:off x="5577840" y="1170432"/>
            <a:ext cx="64008" cy="7498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5715000" y="1243584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715000" y="155448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resources in .tf files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577840" y="2066544"/>
            <a:ext cx="32918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2" name="Shape 10"/>
          <p:cNvSpPr/>
          <p:nvPr/>
        </p:nvSpPr>
        <p:spPr>
          <a:xfrm>
            <a:off x="5577840" y="2066544"/>
            <a:ext cx="64008" cy="749808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" name="Text 11"/>
          <p:cNvSpPr/>
          <p:nvPr/>
        </p:nvSpPr>
        <p:spPr>
          <a:xfrm>
            <a:off x="5715000" y="2139696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715000" y="2450592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changes — no impact yet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577840" y="2962656"/>
            <a:ext cx="32918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6" name="Shape 14"/>
          <p:cNvSpPr/>
          <p:nvPr/>
        </p:nvSpPr>
        <p:spPr>
          <a:xfrm>
            <a:off x="5577840" y="2962656"/>
            <a:ext cx="64008" cy="7498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7" name="Text 15"/>
          <p:cNvSpPr/>
          <p:nvPr/>
        </p:nvSpPr>
        <p:spPr>
          <a:xfrm>
            <a:off x="5715000" y="303580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715000" y="3346704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real cloud infrastructure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577840" y="3858768"/>
            <a:ext cx="32918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0" name="Shape 18"/>
          <p:cNvSpPr/>
          <p:nvPr/>
        </p:nvSpPr>
        <p:spPr>
          <a:xfrm>
            <a:off x="5577840" y="3858768"/>
            <a:ext cx="64008" cy="749808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1" name="Text 19"/>
          <p:cNvSpPr/>
          <p:nvPr/>
        </p:nvSpPr>
        <p:spPr>
          <a:xfrm>
            <a:off x="5715000" y="39319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DESTROY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715000" y="4242816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Tear down managed infrastructure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FILE TYPES — OVERVIEW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1115568"/>
            <a:ext cx="42519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5" name="Shape 3"/>
          <p:cNvSpPr/>
          <p:nvPr/>
        </p:nvSpPr>
        <p:spPr>
          <a:xfrm>
            <a:off x="228600" y="1115568"/>
            <a:ext cx="4251960" cy="3657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356616" y="111556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main.tf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38328" y="1517904"/>
            <a:ext cx="4050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resource definitions. Where you declare cloud resources, data sources, locals, and module calls. Entry point of every config.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09160" y="1115568"/>
            <a:ext cx="42519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9" name="Shape 7"/>
          <p:cNvSpPr/>
          <p:nvPr/>
        </p:nvSpPr>
        <p:spPr>
          <a:xfrm>
            <a:off x="4709160" y="1115568"/>
            <a:ext cx="4251960" cy="365760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" name="Text 8"/>
          <p:cNvSpPr/>
          <p:nvPr/>
        </p:nvSpPr>
        <p:spPr>
          <a:xfrm>
            <a:off x="4837176" y="111556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variables.tf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18888" y="1517904"/>
            <a:ext cx="4050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variable declarations. Defines parameters the config accepts — name, type, description, default, and validation rules.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28600" y="2414016"/>
            <a:ext cx="42519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3" name="Shape 11"/>
          <p:cNvSpPr/>
          <p:nvPr/>
        </p:nvSpPr>
        <p:spPr>
          <a:xfrm>
            <a:off x="228600" y="2414016"/>
            <a:ext cx="4251960" cy="36576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4" name="Text 12"/>
          <p:cNvSpPr/>
          <p:nvPr/>
        </p:nvSpPr>
        <p:spPr>
          <a:xfrm>
            <a:off x="356616" y="2414016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outputs.tf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8328" y="2816352"/>
            <a:ext cx="4050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value declarations. Exports values after apply — resource IDs, IPs, connection strings — for use by humans or other modules.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09160" y="2414016"/>
            <a:ext cx="42519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7" name="Shape 15"/>
          <p:cNvSpPr/>
          <p:nvPr/>
        </p:nvSpPr>
        <p:spPr>
          <a:xfrm>
            <a:off x="4709160" y="2414016"/>
            <a:ext cx="4251960" cy="36576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" name="Text 16"/>
          <p:cNvSpPr/>
          <p:nvPr/>
        </p:nvSpPr>
        <p:spPr>
          <a:xfrm>
            <a:off x="4837176" y="2414016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terraform.tfvars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18888" y="2816352"/>
            <a:ext cx="4050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values file. Assigns actual values to declared variables. Auto-loaded by Terraform. Never put secrets here.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28600" y="3712464"/>
            <a:ext cx="42519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1" name="Shape 19"/>
          <p:cNvSpPr/>
          <p:nvPr/>
        </p:nvSpPr>
        <p:spPr>
          <a:xfrm>
            <a:off x="228600" y="3712464"/>
            <a:ext cx="4251960" cy="365760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2" name="Text 20"/>
          <p:cNvSpPr/>
          <p:nvPr/>
        </p:nvSpPr>
        <p:spPr>
          <a:xfrm>
            <a:off x="356616" y="3712464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backend.tf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38328" y="4114800"/>
            <a:ext cx="4050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state configuration. Tells Terraform where to store the state file — Azure Blob, S3, Terraform Cloud, etc.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09160" y="3712464"/>
            <a:ext cx="42519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5" name="Shape 23"/>
          <p:cNvSpPr/>
          <p:nvPr/>
        </p:nvSpPr>
        <p:spPr>
          <a:xfrm>
            <a:off x="4709160" y="3712464"/>
            <a:ext cx="4251960" cy="365760"/>
          </a:xfrm>
          <a:prstGeom prst="rect">
            <a:avLst/>
          </a:prstGeom>
          <a:solidFill>
            <a:srgbClr val="880E4F"/>
          </a:solidFill>
          <a:ln w="12700">
            <a:solidFill>
              <a:srgbClr val="880E4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6" name="Text 24"/>
          <p:cNvSpPr/>
          <p:nvPr/>
        </p:nvSpPr>
        <p:spPr>
          <a:xfrm>
            <a:off x="4837176" y="3712464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versions.tf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818888" y="4114800"/>
            <a:ext cx="4050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constraints. Pins the Terraform binary version and provider plugin versions for team reproducibility.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.tf FILES — CODE EXAMPLES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1078992"/>
            <a:ext cx="4160520" cy="3794760"/>
          </a:xfrm>
          <a:prstGeom prst="rect">
            <a:avLst/>
          </a:prstGeom>
          <a:solidFill>
            <a:srgbClr val="1E2735"/>
          </a:solidFill>
          <a:ln w="12700">
            <a:solidFill>
              <a:srgbClr val="1E273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Shape 3"/>
          <p:cNvSpPr/>
          <p:nvPr/>
        </p:nvSpPr>
        <p:spPr>
          <a:xfrm>
            <a:off x="228600" y="1078992"/>
            <a:ext cx="4160520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347472" y="107899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main.tf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" y="1517904"/>
            <a:ext cx="3950208" cy="3273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Resource block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 "azurerm_resource_group" "rg"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     = var.rg_name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location = var.location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tags     = local.tags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Module call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 "networking"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source      = "../modules/net"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environment = var.environment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location    = var.location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Data source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"azurerm_subscription" "current" {}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Local value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locals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tags =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environment = var.environment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managed_by  = "terraform"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617720" y="1078992"/>
            <a:ext cx="4251960" cy="3794760"/>
          </a:xfrm>
          <a:prstGeom prst="rect">
            <a:avLst/>
          </a:prstGeom>
          <a:solidFill>
            <a:srgbClr val="1E2735"/>
          </a:solidFill>
          <a:ln w="12700">
            <a:solidFill>
              <a:srgbClr val="1E273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Shape 7"/>
          <p:cNvSpPr/>
          <p:nvPr/>
        </p:nvSpPr>
        <p:spPr>
          <a:xfrm>
            <a:off x="4617720" y="1078992"/>
            <a:ext cx="4251960" cy="384048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" name="Text 8"/>
          <p:cNvSpPr/>
          <p:nvPr/>
        </p:nvSpPr>
        <p:spPr>
          <a:xfrm>
            <a:off x="4736592" y="107899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variables.tf  +  outputs.tf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18304" y="1517904"/>
            <a:ext cx="4041648" cy="3273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variables.tf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variable "environment"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description = "Deployment environment"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type        = string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default     = "dev"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validation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condition = contains(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["dev", "staging", "prod"],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var.environment)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error_message =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"Must be dev, staging, or prod."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variable "location"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description = "Azure region"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type        = string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default     = "australiaeast"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outputs.tf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"resource_group_id"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description = "Resource Group ID"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value = azurerm_resource_group.rg.id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· VERSIONS · TFVARS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01168" y="1115568"/>
            <a:ext cx="2852928" cy="3730752"/>
          </a:xfrm>
          <a:prstGeom prst="rect">
            <a:avLst/>
          </a:prstGeom>
          <a:solidFill>
            <a:srgbClr val="1E2735"/>
          </a:solidFill>
          <a:ln w="12700">
            <a:solidFill>
              <a:srgbClr val="1E273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Shape 3"/>
          <p:cNvSpPr/>
          <p:nvPr/>
        </p:nvSpPr>
        <p:spPr>
          <a:xfrm>
            <a:off x="201168" y="1115568"/>
            <a:ext cx="2852928" cy="402336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292608" y="1115568"/>
            <a:ext cx="2715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backend.tf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92608" y="1591056"/>
            <a:ext cx="2688336" cy="3163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backend "azurerm" {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resource_group_name =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"rg-tfstate-prod"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storage_account_name =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"stterraformstate"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container_name =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"tfstate"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key =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"prod/network/tf.tfstate"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use_azuread_auth = true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64408" y="1115568"/>
            <a:ext cx="2852928" cy="3730752"/>
          </a:xfrm>
          <a:prstGeom prst="rect">
            <a:avLst/>
          </a:prstGeom>
          <a:solidFill>
            <a:srgbClr val="1E2735"/>
          </a:solidFill>
          <a:ln w="12700">
            <a:solidFill>
              <a:srgbClr val="1E273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Shape 7"/>
          <p:cNvSpPr/>
          <p:nvPr/>
        </p:nvSpPr>
        <p:spPr>
          <a:xfrm>
            <a:off x="3264408" y="1115568"/>
            <a:ext cx="2852928" cy="402336"/>
          </a:xfrm>
          <a:prstGeom prst="rect">
            <a:avLst/>
          </a:prstGeom>
          <a:solidFill>
            <a:srgbClr val="880E4F"/>
          </a:solidFill>
          <a:ln w="12700">
            <a:solidFill>
              <a:srgbClr val="880E4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" name="Text 8"/>
          <p:cNvSpPr/>
          <p:nvPr/>
        </p:nvSpPr>
        <p:spPr>
          <a:xfrm>
            <a:off x="3355848" y="1115568"/>
            <a:ext cx="2715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versions.tf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55848" y="1591056"/>
            <a:ext cx="2688336" cy="3163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required_version =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"&gt;= 1.5.0"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required_providers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azurerm =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source =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"hashicorp/azurerm"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version = "~&gt; 3.90"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random =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source =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"hashicorp/random"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version = "~&gt; 3.5"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327648" y="1115568"/>
            <a:ext cx="2852928" cy="3730752"/>
          </a:xfrm>
          <a:prstGeom prst="rect">
            <a:avLst/>
          </a:prstGeom>
          <a:solidFill>
            <a:srgbClr val="1E2735"/>
          </a:solidFill>
          <a:ln w="12700">
            <a:solidFill>
              <a:srgbClr val="1E273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" name="Shape 11"/>
          <p:cNvSpPr/>
          <p:nvPr/>
        </p:nvSpPr>
        <p:spPr>
          <a:xfrm>
            <a:off x="6327648" y="1115568"/>
            <a:ext cx="2852928" cy="402336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4" name="Text 12"/>
          <p:cNvSpPr/>
          <p:nvPr/>
        </p:nvSpPr>
        <p:spPr>
          <a:xfrm>
            <a:off x="6419088" y="1115568"/>
            <a:ext cx="2715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terraform.tfvars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19088" y="1591056"/>
            <a:ext cx="2688336" cy="3163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environment = "prod"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location =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"australiaeast"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rg_name =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"rg-platform-prod"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log_retention_days = 90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─────────────────────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⚠ NEVER put secrets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 this file!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Use Key Vault or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CI/CD environment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secrets instead.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─────────────────────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FILES &amp; FOLDERS — AUTO-CREATED BY TERRAFORM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NEVER written by hand — Terraform creates them automatically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228600" y="1417320"/>
            <a:ext cx="42519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6" name="Shape 4"/>
          <p:cNvSpPr/>
          <p:nvPr/>
        </p:nvSpPr>
        <p:spPr>
          <a:xfrm>
            <a:off x="228600" y="1417320"/>
            <a:ext cx="64008" cy="1645920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411480" y="1490472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74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.terraform/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11480" y="1819656"/>
            <a:ext cx="1572768" cy="237744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411480" y="1819656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terraform init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2130552"/>
            <a:ext cx="39593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directory in your working folder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 downloaded provider plugin binaries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 copies of remote modules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.gitignore — never commit this folder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0" y="1417320"/>
            <a:ext cx="42519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2" name="Shape 10"/>
          <p:cNvSpPr/>
          <p:nvPr/>
        </p:nvSpPr>
        <p:spPr>
          <a:xfrm>
            <a:off x="4709160" y="1417320"/>
            <a:ext cx="64008" cy="164592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" name="Text 11"/>
          <p:cNvSpPr/>
          <p:nvPr/>
        </p:nvSpPr>
        <p:spPr>
          <a:xfrm>
            <a:off x="4892040" y="1490472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6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.terraform.lock.hcl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892040" y="1819656"/>
            <a:ext cx="1572768" cy="237744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" name="Text 13"/>
          <p:cNvSpPr/>
          <p:nvPr/>
        </p:nvSpPr>
        <p:spPr>
          <a:xfrm>
            <a:off x="4892040" y="1819656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terraform init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892040" y="2130552"/>
            <a:ext cx="39593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dependency lock file (like package-lock.json)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exact provider versions and checksums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be committed to source control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every team member uses identical provider versions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28600" y="3218688"/>
            <a:ext cx="42519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8" name="Shape 16"/>
          <p:cNvSpPr/>
          <p:nvPr/>
        </p:nvSpPr>
        <p:spPr>
          <a:xfrm>
            <a:off x="228600" y="3218688"/>
            <a:ext cx="64008" cy="164592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9" name="Text 17"/>
          <p:cNvSpPr/>
          <p:nvPr/>
        </p:nvSpPr>
        <p:spPr>
          <a:xfrm>
            <a:off x="411480" y="3291840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7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terraform.tfstate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11480" y="3621024"/>
            <a:ext cx="1572768" cy="237744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1" name="Text 19"/>
          <p:cNvSpPr/>
          <p:nvPr/>
        </p:nvSpPr>
        <p:spPr>
          <a:xfrm>
            <a:off x="411480" y="3621024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terraform apply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11480" y="3931920"/>
            <a:ext cx="39593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the real state of deployed infrastructure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Terraform resource names to actual cloud resource IDs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remotely via backend.tf in team environments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 sensitive data — NEVER commit to git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09160" y="3218688"/>
            <a:ext cx="42519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4" name="Shape 22"/>
          <p:cNvSpPr/>
          <p:nvPr/>
        </p:nvSpPr>
        <p:spPr>
          <a:xfrm>
            <a:off x="4709160" y="3218688"/>
            <a:ext cx="64008" cy="164592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5" name="Text 23"/>
          <p:cNvSpPr/>
          <p:nvPr/>
        </p:nvSpPr>
        <p:spPr>
          <a:xfrm>
            <a:off x="4892040" y="3291840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651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terraform.tfstate.backup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892040" y="3621024"/>
            <a:ext cx="1572768" cy="237744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7" name="Text 25"/>
          <p:cNvSpPr/>
          <p:nvPr/>
        </p:nvSpPr>
        <p:spPr>
          <a:xfrm>
            <a:off x="4892040" y="3621024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terraform apply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92040" y="3931920"/>
            <a:ext cx="39593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state file — saved automatically before each apply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Allows inspection if something goes wrong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the same sensitivity as terraform.tfstate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excluded from git via .gitignore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 THAT CREATE HIDDEN FILES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115568"/>
            <a:ext cx="8595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5" name="Shape 3"/>
          <p:cNvSpPr/>
          <p:nvPr/>
        </p:nvSpPr>
        <p:spPr>
          <a:xfrm>
            <a:off x="274320" y="1115568"/>
            <a:ext cx="2331720" cy="1188720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347472" y="1115568"/>
            <a:ext cx="21762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init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788920" y="1207008"/>
            <a:ext cx="594360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05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Creates: </a:t>
            </a:r>
            <a:r>
              <a:rPr lang="en-US" sz="1050" b="1" dirty="0">
                <a:solidFill>
                  <a:srgbClr val="0060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.terraform/   and   .terraform.lock.hcl
- </a:t>
            </a:r>
            <a:r>
              <a:rPr lang="en-US" sz="10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Downloads provider plugins into .terraform/providers/  </a:t>
            </a:r>
            <a:br>
              <a:rPr lang="en-US" sz="10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050" b="1" dirty="0">
                <a:solidFill>
                  <a:srgbClr val="0060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</a:t>
            </a:r>
            <a:r>
              <a:rPr lang="en-US" sz="10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Downloads modules into .terraform/modules/  </a:t>
            </a:r>
            <a:br>
              <a:rPr lang="en-US" sz="10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050" b="1" dirty="0">
                <a:solidFill>
                  <a:srgbClr val="0060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</a:t>
            </a:r>
            <a:r>
              <a:rPr lang="en-US" sz="10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exact provider version checksums into .</a:t>
            </a:r>
            <a:r>
              <a:rPr lang="en-US" sz="1050" dirty="0" err="1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terraform.lock.hcl</a:t>
            </a:r>
            <a:r>
              <a:rPr lang="en-US" sz="10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br>
              <a:rPr lang="en-US" sz="10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050" b="1" dirty="0">
                <a:solidFill>
                  <a:srgbClr val="0060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</a:t>
            </a:r>
            <a:r>
              <a:rPr lang="en-US" sz="10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once per project, re-run when providers or modules change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4320" y="2414016"/>
            <a:ext cx="8595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9" name="Shape 7"/>
          <p:cNvSpPr/>
          <p:nvPr/>
        </p:nvSpPr>
        <p:spPr>
          <a:xfrm>
            <a:off x="274320" y="2414016"/>
            <a:ext cx="2331720" cy="118872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" name="Text 8"/>
          <p:cNvSpPr/>
          <p:nvPr/>
        </p:nvSpPr>
        <p:spPr>
          <a:xfrm>
            <a:off x="347472" y="2414016"/>
            <a:ext cx="21762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plan -out=tfplan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788920" y="2505456"/>
            <a:ext cx="594360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05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Creates: </a:t>
            </a:r>
            <a:r>
              <a:rPr lang="en-US" sz="1050" b="1" dirty="0">
                <a:solidFill>
                  <a:srgbClr val="0060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tfplan  (binary plan file — optional flag)
- </a:t>
            </a:r>
            <a:r>
              <a:rPr lang="en-US" sz="10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current state + compares to your config</a:t>
            </a:r>
          </a:p>
          <a:p>
            <a:pPr marL="171450" indent="-171450">
              <a:buFontTx/>
              <a:buChar char="-"/>
            </a:pPr>
            <a:r>
              <a:rPr lang="en-US" sz="10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what would be </a:t>
            </a:r>
            <a:r>
              <a:rPr lang="en-US" sz="1050" b="1" dirty="0">
                <a:solidFill>
                  <a:schemeClr val="accent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(+), changed (~), or destroyed (-) </a:t>
            </a:r>
          </a:p>
          <a:p>
            <a:pPr marL="171450" indent="-171450">
              <a:buFontTx/>
              <a:buChar char="-"/>
            </a:pPr>
            <a:r>
              <a:rPr lang="en-US" sz="10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touch real infrastructure  ·  Saving with -out=tfplan allows a safe apply without re-planning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3712464"/>
            <a:ext cx="8595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3" name="Shape 11"/>
          <p:cNvSpPr/>
          <p:nvPr/>
        </p:nvSpPr>
        <p:spPr>
          <a:xfrm>
            <a:off x="274320" y="3712464"/>
            <a:ext cx="2331720" cy="11887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4" name="Text 12"/>
          <p:cNvSpPr/>
          <p:nvPr/>
        </p:nvSpPr>
        <p:spPr>
          <a:xfrm>
            <a:off x="347472" y="3712464"/>
            <a:ext cx="21762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apply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788920" y="3803904"/>
            <a:ext cx="594360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0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Creates: </a:t>
            </a:r>
            <a:r>
              <a:rPr lang="en-US" sz="1050" b="1" dirty="0">
                <a:solidFill>
                  <a:srgbClr val="0060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terraform.tfstate   and   terraform.tfstate.backup
- </a:t>
            </a:r>
            <a:r>
              <a:rPr lang="en-US" sz="10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Deploys or updates real cloud infrastructure</a:t>
            </a:r>
          </a:p>
          <a:p>
            <a:r>
              <a:rPr lang="en-US" sz="1050" b="1" dirty="0">
                <a:solidFill>
                  <a:srgbClr val="0060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</a:t>
            </a:r>
            <a:r>
              <a:rPr lang="en-US" sz="10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the new state to </a:t>
            </a:r>
            <a:r>
              <a:rPr lang="en-US" sz="1050" b="1" dirty="0" err="1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terraform.tfstate</a:t>
            </a:r>
            <a:r>
              <a:rPr lang="en-US" sz="105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</a:p>
          <a:p>
            <a:pPr marL="171450" indent="-171450">
              <a:buFontTx/>
              <a:buChar char="-"/>
            </a:pPr>
            <a:r>
              <a:rPr lang="en-US" sz="10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the previous state as </a:t>
            </a:r>
            <a:r>
              <a:rPr lang="en-US" sz="1050" b="1" dirty="0" err="1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terraform.tfstate.backup</a:t>
            </a:r>
            <a:r>
              <a:rPr lang="en-US" sz="10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automatically</a:t>
            </a:r>
          </a:p>
          <a:p>
            <a:pPr marL="171450" indent="-171450">
              <a:buFontTx/>
              <a:buChar char="-"/>
            </a:pPr>
            <a:r>
              <a:rPr lang="en-US" sz="10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prompt for confirmation unless -auto-approve is passed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COMMANDS — CHEAT SHEET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1115568"/>
            <a:ext cx="420624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5" name="Shape 3"/>
          <p:cNvSpPr/>
          <p:nvPr/>
        </p:nvSpPr>
        <p:spPr>
          <a:xfrm>
            <a:off x="228600" y="1115568"/>
            <a:ext cx="54864" cy="667512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374904" y="1179576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74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init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154680" y="1207008"/>
            <a:ext cx="1170432" cy="210312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/>
          <p:nvPr/>
        </p:nvSpPr>
        <p:spPr>
          <a:xfrm>
            <a:off x="3154680" y="1207008"/>
            <a:ext cx="11704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FIRST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74904" y="148132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Initialise working directory — downloads providers and modules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1115568"/>
            <a:ext cx="420624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1" name="Shape 9"/>
          <p:cNvSpPr/>
          <p:nvPr/>
        </p:nvSpPr>
        <p:spPr>
          <a:xfrm>
            <a:off x="4663440" y="1115568"/>
            <a:ext cx="54864" cy="667512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Text 10"/>
          <p:cNvSpPr/>
          <p:nvPr/>
        </p:nvSpPr>
        <p:spPr>
          <a:xfrm>
            <a:off x="4809744" y="1179576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C6B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fmt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589520" y="1207008"/>
            <a:ext cx="1170432" cy="210312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4" name="Text 12"/>
          <p:cNvSpPr/>
          <p:nvPr/>
        </p:nvSpPr>
        <p:spPr>
          <a:xfrm>
            <a:off x="7589520" y="1207008"/>
            <a:ext cx="11704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COMMIT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809744" y="148132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Auto-format all .tf files to canonical HCL style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28600" y="1892808"/>
            <a:ext cx="420624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7" name="Shape 15"/>
          <p:cNvSpPr/>
          <p:nvPr/>
        </p:nvSpPr>
        <p:spPr>
          <a:xfrm>
            <a:off x="228600" y="1892808"/>
            <a:ext cx="54864" cy="667512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" name="Text 16"/>
          <p:cNvSpPr/>
          <p:nvPr/>
        </p:nvSpPr>
        <p:spPr>
          <a:xfrm>
            <a:off x="374904" y="1956816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6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validate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154680" y="1984248"/>
            <a:ext cx="1170432" cy="210312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0" name="Text 18"/>
          <p:cNvSpPr/>
          <p:nvPr/>
        </p:nvSpPr>
        <p:spPr>
          <a:xfrm>
            <a:off x="3154680" y="1984248"/>
            <a:ext cx="11704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PLAN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374904" y="225856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configuration syntax without connecting to cloud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63440" y="1892808"/>
            <a:ext cx="420624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3" name="Shape 21"/>
          <p:cNvSpPr/>
          <p:nvPr/>
        </p:nvSpPr>
        <p:spPr>
          <a:xfrm>
            <a:off x="4663440" y="1892808"/>
            <a:ext cx="54864" cy="667512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4" name="Text 22"/>
          <p:cNvSpPr/>
          <p:nvPr/>
        </p:nvSpPr>
        <p:spPr>
          <a:xfrm>
            <a:off x="4809744" y="1956816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83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plan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589520" y="1984248"/>
            <a:ext cx="1170432" cy="210312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6" name="Text 24"/>
          <p:cNvSpPr/>
          <p:nvPr/>
        </p:nvSpPr>
        <p:spPr>
          <a:xfrm>
            <a:off x="7589520" y="1984248"/>
            <a:ext cx="11704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CHANGES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809744" y="225856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what changes would be made — infrastructure is NOT touched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28600" y="2670048"/>
            <a:ext cx="420624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9" name="Shape 27"/>
          <p:cNvSpPr/>
          <p:nvPr/>
        </p:nvSpPr>
        <p:spPr>
          <a:xfrm>
            <a:off x="228600" y="2670048"/>
            <a:ext cx="54864" cy="667512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0" name="Text 28"/>
          <p:cNvSpPr/>
          <p:nvPr/>
        </p:nvSpPr>
        <p:spPr>
          <a:xfrm>
            <a:off x="374904" y="2734056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60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plan -out=tfplan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154680" y="2761488"/>
            <a:ext cx="1170432" cy="210312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2" name="Text 30"/>
          <p:cNvSpPr/>
          <p:nvPr/>
        </p:nvSpPr>
        <p:spPr>
          <a:xfrm>
            <a:off x="3154680" y="2761488"/>
            <a:ext cx="11704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374904" y="303580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plan to a file for later apply or audit purposes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663440" y="2670048"/>
            <a:ext cx="420624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5" name="Shape 33"/>
          <p:cNvSpPr/>
          <p:nvPr/>
        </p:nvSpPr>
        <p:spPr>
          <a:xfrm>
            <a:off x="4663440" y="2670048"/>
            <a:ext cx="54864" cy="66751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6" name="Text 34"/>
          <p:cNvSpPr/>
          <p:nvPr/>
        </p:nvSpPr>
        <p:spPr>
          <a:xfrm>
            <a:off x="4809744" y="2734056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apply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7589520" y="2761488"/>
            <a:ext cx="1170432" cy="21031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8" name="Text 36"/>
          <p:cNvSpPr/>
          <p:nvPr/>
        </p:nvSpPr>
        <p:spPr>
          <a:xfrm>
            <a:off x="7589520" y="2761488"/>
            <a:ext cx="11704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4809744" y="303580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infrastructure changes — prompts for confirmation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28600" y="3447288"/>
            <a:ext cx="420624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41" name="Shape 39"/>
          <p:cNvSpPr/>
          <p:nvPr/>
        </p:nvSpPr>
        <p:spPr>
          <a:xfrm>
            <a:off x="228600" y="3447288"/>
            <a:ext cx="54864" cy="66751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2" name="Text 40"/>
          <p:cNvSpPr/>
          <p:nvPr/>
        </p:nvSpPr>
        <p:spPr>
          <a:xfrm>
            <a:off x="374904" y="3511296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5E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apply tfplan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3154680" y="3538728"/>
            <a:ext cx="1170432" cy="21031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4" name="Text 42"/>
          <p:cNvSpPr/>
          <p:nvPr/>
        </p:nvSpPr>
        <p:spPr>
          <a:xfrm>
            <a:off x="3154680" y="3538728"/>
            <a:ext cx="11704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374904" y="381304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 previously saved plan file — no confirmation prompt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663440" y="3447288"/>
            <a:ext cx="420624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47" name="Shape 45"/>
          <p:cNvSpPr/>
          <p:nvPr/>
        </p:nvSpPr>
        <p:spPr>
          <a:xfrm>
            <a:off x="4663440" y="3447288"/>
            <a:ext cx="54864" cy="667512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8" name="Text 46"/>
          <p:cNvSpPr/>
          <p:nvPr/>
        </p:nvSpPr>
        <p:spPr>
          <a:xfrm>
            <a:off x="4809744" y="3511296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7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destroy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7589520" y="3538728"/>
            <a:ext cx="1170432" cy="210312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0" name="Text 48"/>
          <p:cNvSpPr/>
          <p:nvPr/>
        </p:nvSpPr>
        <p:spPr>
          <a:xfrm>
            <a:off x="7589520" y="3538728"/>
            <a:ext cx="11704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CAREFUL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4809744" y="381304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Tear down ALL infrastructure managed by this state file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228600" y="4224528"/>
            <a:ext cx="420624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53" name="Shape 51"/>
          <p:cNvSpPr/>
          <p:nvPr/>
        </p:nvSpPr>
        <p:spPr>
          <a:xfrm>
            <a:off x="228600" y="4224528"/>
            <a:ext cx="54864" cy="66751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4" name="Text 52"/>
          <p:cNvSpPr/>
          <p:nvPr/>
        </p:nvSpPr>
        <p:spPr>
          <a:xfrm>
            <a:off x="374904" y="4288536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651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output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3154680" y="4315968"/>
            <a:ext cx="1170432" cy="21031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6" name="Text 54"/>
          <p:cNvSpPr/>
          <p:nvPr/>
        </p:nvSpPr>
        <p:spPr>
          <a:xfrm>
            <a:off x="3154680" y="4315968"/>
            <a:ext cx="11704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374904" y="459028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all output values from the current state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663440" y="4224528"/>
            <a:ext cx="420624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59" name="Shape 57"/>
          <p:cNvSpPr/>
          <p:nvPr/>
        </p:nvSpPr>
        <p:spPr>
          <a:xfrm>
            <a:off x="4663440" y="4224528"/>
            <a:ext cx="54864" cy="667512"/>
          </a:xfrm>
          <a:prstGeom prst="rect">
            <a:avLst/>
          </a:prstGeom>
          <a:solidFill>
            <a:srgbClr val="880E4F"/>
          </a:solidFill>
          <a:ln w="12700">
            <a:solidFill>
              <a:srgbClr val="880E4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0" name="Text 58"/>
          <p:cNvSpPr/>
          <p:nvPr/>
        </p:nvSpPr>
        <p:spPr>
          <a:xfrm>
            <a:off x="4809744" y="4288536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80E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state list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7589520" y="4315968"/>
            <a:ext cx="1170432" cy="210312"/>
          </a:xfrm>
          <a:prstGeom prst="rect">
            <a:avLst/>
          </a:prstGeom>
          <a:solidFill>
            <a:srgbClr val="880E4F"/>
          </a:solidFill>
          <a:ln w="12700">
            <a:solidFill>
              <a:srgbClr val="880E4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2" name="Text 60"/>
          <p:cNvSpPr/>
          <p:nvPr/>
        </p:nvSpPr>
        <p:spPr>
          <a:xfrm>
            <a:off x="7589520" y="4315968"/>
            <a:ext cx="11704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4809744" y="459028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all resources tracked in the state file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TERRAFORM WORKFLOW — STEP BY STEP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56032" y="1115568"/>
            <a:ext cx="201168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5" name="Shape 3"/>
          <p:cNvSpPr/>
          <p:nvPr/>
        </p:nvSpPr>
        <p:spPr>
          <a:xfrm>
            <a:off x="256032" y="1115568"/>
            <a:ext cx="2011680" cy="841248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Shape 4"/>
          <p:cNvSpPr/>
          <p:nvPr/>
        </p:nvSpPr>
        <p:spPr>
          <a:xfrm>
            <a:off x="987552" y="118872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987552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29184" y="1773936"/>
            <a:ext cx="1865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" y="2048256"/>
            <a:ext cx="1828800" cy="493776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" name="Text 8"/>
          <p:cNvSpPr/>
          <p:nvPr/>
        </p:nvSpPr>
        <p:spPr>
          <a:xfrm>
            <a:off x="347472" y="2048256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74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init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84048" y="2615184"/>
            <a:ext cx="1792224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Downloads providers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Fetches modules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.terraform/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.lock.hcl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67712" y="2990088"/>
            <a:ext cx="173736" cy="0"/>
          </a:xfrm>
          <a:prstGeom prst="line">
            <a:avLst/>
          </a:prstGeom>
          <a:noFill/>
          <a:ln w="3175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" name="Shape 11"/>
          <p:cNvSpPr/>
          <p:nvPr/>
        </p:nvSpPr>
        <p:spPr>
          <a:xfrm>
            <a:off x="2450592" y="1115568"/>
            <a:ext cx="201168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4" name="Shape 12"/>
          <p:cNvSpPr/>
          <p:nvPr/>
        </p:nvSpPr>
        <p:spPr>
          <a:xfrm>
            <a:off x="2450592" y="1115568"/>
            <a:ext cx="2011680" cy="841248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" name="Shape 13"/>
          <p:cNvSpPr/>
          <p:nvPr/>
        </p:nvSpPr>
        <p:spPr>
          <a:xfrm>
            <a:off x="3182112" y="118872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6" name="Text 14"/>
          <p:cNvSpPr/>
          <p:nvPr/>
        </p:nvSpPr>
        <p:spPr>
          <a:xfrm>
            <a:off x="3182112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C6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523744" y="1773936"/>
            <a:ext cx="1865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542032" y="2048256"/>
            <a:ext cx="1828800" cy="493776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9" name="Text 17"/>
          <p:cNvSpPr/>
          <p:nvPr/>
        </p:nvSpPr>
        <p:spPr>
          <a:xfrm>
            <a:off x="2542032" y="2048256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C6B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fmt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5C6B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validate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578608" y="2615184"/>
            <a:ext cx="1792224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.tf files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HCL syntax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cloud calls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feedback loop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462272" y="2990088"/>
            <a:ext cx="173736" cy="0"/>
          </a:xfrm>
          <a:prstGeom prst="line">
            <a:avLst/>
          </a:prstGeom>
          <a:noFill/>
          <a:ln w="3175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2" name="Shape 20"/>
          <p:cNvSpPr/>
          <p:nvPr/>
        </p:nvSpPr>
        <p:spPr>
          <a:xfrm>
            <a:off x="4645152" y="1115568"/>
            <a:ext cx="201168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3" name="Shape 21"/>
          <p:cNvSpPr/>
          <p:nvPr/>
        </p:nvSpPr>
        <p:spPr>
          <a:xfrm>
            <a:off x="4645152" y="1115568"/>
            <a:ext cx="2011680" cy="841248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4" name="Shape 22"/>
          <p:cNvSpPr/>
          <p:nvPr/>
        </p:nvSpPr>
        <p:spPr>
          <a:xfrm>
            <a:off x="5376672" y="118872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5" name="Text 23"/>
          <p:cNvSpPr/>
          <p:nvPr/>
        </p:nvSpPr>
        <p:spPr>
          <a:xfrm>
            <a:off x="5376672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718304" y="1773936"/>
            <a:ext cx="1865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36592" y="2048256"/>
            <a:ext cx="1828800" cy="493776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8" name="Text 26"/>
          <p:cNvSpPr/>
          <p:nvPr/>
        </p:nvSpPr>
        <p:spPr>
          <a:xfrm>
            <a:off x="4736592" y="2048256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83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plan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773168" y="2615184"/>
            <a:ext cx="1792224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state file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+ add / ~ change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- destroy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— safe!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656832" y="2990088"/>
            <a:ext cx="173736" cy="0"/>
          </a:xfrm>
          <a:prstGeom prst="line">
            <a:avLst/>
          </a:prstGeom>
          <a:noFill/>
          <a:ln w="3175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1" name="Shape 29"/>
          <p:cNvSpPr/>
          <p:nvPr/>
        </p:nvSpPr>
        <p:spPr>
          <a:xfrm>
            <a:off x="6839712" y="1115568"/>
            <a:ext cx="201168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2" name="Shape 30"/>
          <p:cNvSpPr/>
          <p:nvPr/>
        </p:nvSpPr>
        <p:spPr>
          <a:xfrm>
            <a:off x="6839712" y="1115568"/>
            <a:ext cx="2011680" cy="84124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3" name="Shape 31"/>
          <p:cNvSpPr/>
          <p:nvPr/>
        </p:nvSpPr>
        <p:spPr>
          <a:xfrm>
            <a:off x="7571232" y="118872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4" name="Text 32"/>
          <p:cNvSpPr/>
          <p:nvPr/>
        </p:nvSpPr>
        <p:spPr>
          <a:xfrm>
            <a:off x="7571232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6912864" y="1773936"/>
            <a:ext cx="1865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931152" y="2048256"/>
            <a:ext cx="1828800" cy="493776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7" name="Text 35"/>
          <p:cNvSpPr/>
          <p:nvPr/>
        </p:nvSpPr>
        <p:spPr>
          <a:xfrm>
            <a:off x="6931152" y="2048256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apply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967728" y="2615184"/>
            <a:ext cx="1792224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resources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tfstate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.backup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or auto-approve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65760" y="4828032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final step:  terraform destroy  — tears down ALL managed infrastructure  (use with extreme caution in production)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.gitignore — COMMIT RULES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56032" y="1097280"/>
            <a:ext cx="4206240" cy="3749040"/>
          </a:xfrm>
          <a:prstGeom prst="rect">
            <a:avLst/>
          </a:prstGeom>
          <a:solidFill>
            <a:srgbClr val="1E272E"/>
          </a:solidFill>
          <a:ln w="12700">
            <a:solidFill>
              <a:srgbClr val="1E272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Shape 3"/>
          <p:cNvSpPr/>
          <p:nvPr/>
        </p:nvSpPr>
        <p:spPr>
          <a:xfrm>
            <a:off x="256032" y="1097280"/>
            <a:ext cx="4206240" cy="384048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4005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C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.gitignore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536192"/>
            <a:ext cx="4005072" cy="3218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Provider plugins — machine specific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.terraform/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State files — contain secrets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terraform.tfstate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terraform.tfstate.backup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*.tfstate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*.tfstate.*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Saved plan files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tfplan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*.tfplan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Auto-loaded var files (may have secrets)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*.auto.tfvars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Terraform override files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override.tf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override.tf.json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macOS / IDE clutter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.DS_Store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.idea/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*.swp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736592" y="1097280"/>
            <a:ext cx="413308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9" name="Shape 7"/>
          <p:cNvSpPr/>
          <p:nvPr/>
        </p:nvSpPr>
        <p:spPr>
          <a:xfrm>
            <a:off x="4736592" y="1097280"/>
            <a:ext cx="822960" cy="45720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" name="Text 8"/>
          <p:cNvSpPr/>
          <p:nvPr/>
        </p:nvSpPr>
        <p:spPr>
          <a:xfrm>
            <a:off x="4736592" y="10972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623560" y="1133856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7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.terraform/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623560" y="1344168"/>
            <a:ext cx="31272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Huge binaries, machine-specific. Re-created by terraform init.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36592" y="1627632"/>
            <a:ext cx="413308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4" name="Shape 12"/>
          <p:cNvSpPr/>
          <p:nvPr/>
        </p:nvSpPr>
        <p:spPr>
          <a:xfrm>
            <a:off x="4736592" y="1627632"/>
            <a:ext cx="822960" cy="45720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" name="Text 13"/>
          <p:cNvSpPr/>
          <p:nvPr/>
        </p:nvSpPr>
        <p:spPr>
          <a:xfrm>
            <a:off x="4736592" y="162763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623560" y="1664208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7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terraform.tfstate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623560" y="1874520"/>
            <a:ext cx="31272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 resource IDs, IPs, and often passwords.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36592" y="2157984"/>
            <a:ext cx="413308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9" name="Shape 17"/>
          <p:cNvSpPr/>
          <p:nvPr/>
        </p:nvSpPr>
        <p:spPr>
          <a:xfrm>
            <a:off x="4736592" y="2157984"/>
            <a:ext cx="822960" cy="45720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0" name="Text 18"/>
          <p:cNvSpPr/>
          <p:nvPr/>
        </p:nvSpPr>
        <p:spPr>
          <a:xfrm>
            <a:off x="4736592" y="215798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623560" y="2194560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7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*.tfstate.backup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623560" y="2404872"/>
            <a:ext cx="31272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sensitivity as the state file.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36592" y="2688336"/>
            <a:ext cx="413308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4" name="Shape 22"/>
          <p:cNvSpPr/>
          <p:nvPr/>
        </p:nvSpPr>
        <p:spPr>
          <a:xfrm>
            <a:off x="4736592" y="2688336"/>
            <a:ext cx="822960" cy="45720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5" name="Text 23"/>
          <p:cNvSpPr/>
          <p:nvPr/>
        </p:nvSpPr>
        <p:spPr>
          <a:xfrm>
            <a:off x="4736592" y="2688336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623560" y="2724912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7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*.auto.tfvars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623560" y="2935224"/>
            <a:ext cx="31272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contain credentials if auto-loaded.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36592" y="3218688"/>
            <a:ext cx="413308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9" name="Shape 27"/>
          <p:cNvSpPr/>
          <p:nvPr/>
        </p:nvSpPr>
        <p:spPr>
          <a:xfrm>
            <a:off x="4736592" y="3218688"/>
            <a:ext cx="822960" cy="4572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0" name="Text 28"/>
          <p:cNvSpPr/>
          <p:nvPr/>
        </p:nvSpPr>
        <p:spPr>
          <a:xfrm>
            <a:off x="4736592" y="321868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623560" y="3255264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.terraform.lock.hcl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623560" y="3465576"/>
            <a:ext cx="31272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identical provider versions across the team.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736592" y="3749040"/>
            <a:ext cx="413308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4" name="Shape 32"/>
          <p:cNvSpPr/>
          <p:nvPr/>
        </p:nvSpPr>
        <p:spPr>
          <a:xfrm>
            <a:off x="4736592" y="3749040"/>
            <a:ext cx="822960" cy="4572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5" name="Text 33"/>
          <p:cNvSpPr/>
          <p:nvPr/>
        </p:nvSpPr>
        <p:spPr>
          <a:xfrm>
            <a:off x="4736592" y="37490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623560" y="3785616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*.tf files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623560" y="3995928"/>
            <a:ext cx="31272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Terraform code belongs in source control.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736592" y="4279392"/>
            <a:ext cx="413308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9" name="Shape 37"/>
          <p:cNvSpPr/>
          <p:nvPr/>
        </p:nvSpPr>
        <p:spPr>
          <a:xfrm>
            <a:off x="4736592" y="4279392"/>
            <a:ext cx="822960" cy="4572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0" name="Text 38"/>
          <p:cNvSpPr/>
          <p:nvPr/>
        </p:nvSpPr>
        <p:spPr>
          <a:xfrm>
            <a:off x="4736592" y="427939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623560" y="4315968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terraform.tfvars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623560" y="4526280"/>
            <a:ext cx="31272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to commit if it contains no secrets.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FOLDER STRUCTURE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56032" y="1097280"/>
            <a:ext cx="4389120" cy="3749040"/>
          </a:xfrm>
          <a:prstGeom prst="rect">
            <a:avLst/>
          </a:prstGeom>
          <a:solidFill>
            <a:srgbClr val="1E272E"/>
          </a:solidFill>
          <a:ln w="12700">
            <a:solidFill>
              <a:srgbClr val="1E272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Shape 3"/>
          <p:cNvSpPr/>
          <p:nvPr/>
        </p:nvSpPr>
        <p:spPr>
          <a:xfrm>
            <a:off x="256032" y="1097280"/>
            <a:ext cx="4389120" cy="384048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C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 structure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536192"/>
            <a:ext cx="4169664" cy="3218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terraform-project/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main.tf         # Resources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variables.tf    # Inputs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outputs.tf      # Outputs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versions.tf     # Provider pins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backend.tf      # Remote state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terraform.tfvars# Var values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modules/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networking/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├── main.tf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├── variables.tf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└── outputs.tf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environments/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dev/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staging/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prod/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937760" y="1097280"/>
            <a:ext cx="3931920" cy="46634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9" name="Shape 7"/>
          <p:cNvSpPr/>
          <p:nvPr/>
        </p:nvSpPr>
        <p:spPr>
          <a:xfrm>
            <a:off x="4937760" y="1097280"/>
            <a:ext cx="64008" cy="46634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" name="Text 8"/>
          <p:cNvSpPr/>
          <p:nvPr/>
        </p:nvSpPr>
        <p:spPr>
          <a:xfrm>
            <a:off x="5065776" y="1143000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main.tf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65776" y="1371600"/>
            <a:ext cx="3703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point. Declares resources, data sources, module calls.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937760" y="1636776"/>
            <a:ext cx="3931920" cy="46634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3" name="Shape 11"/>
          <p:cNvSpPr/>
          <p:nvPr/>
        </p:nvSpPr>
        <p:spPr>
          <a:xfrm>
            <a:off x="4937760" y="1636776"/>
            <a:ext cx="64008" cy="466344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4" name="Text 12"/>
          <p:cNvSpPr/>
          <p:nvPr/>
        </p:nvSpPr>
        <p:spPr>
          <a:xfrm>
            <a:off x="5065776" y="1682496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0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variables.tf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65776" y="1911096"/>
            <a:ext cx="3703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inputs with type, description, default, and validation.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937760" y="2176272"/>
            <a:ext cx="3931920" cy="46634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7" name="Shape 15"/>
          <p:cNvSpPr/>
          <p:nvPr/>
        </p:nvSpPr>
        <p:spPr>
          <a:xfrm>
            <a:off x="4937760" y="2176272"/>
            <a:ext cx="64008" cy="466344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" name="Text 16"/>
          <p:cNvSpPr/>
          <p:nvPr/>
        </p:nvSpPr>
        <p:spPr>
          <a:xfrm>
            <a:off x="5065776" y="2221992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5E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outputs.tf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65776" y="2450592"/>
            <a:ext cx="3703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Exports values for other configs or team reference.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937760" y="2715768"/>
            <a:ext cx="3931920" cy="46634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1" name="Shape 19"/>
          <p:cNvSpPr/>
          <p:nvPr/>
        </p:nvSpPr>
        <p:spPr>
          <a:xfrm>
            <a:off x="4937760" y="2715768"/>
            <a:ext cx="64008" cy="466344"/>
          </a:xfrm>
          <a:prstGeom prst="rect">
            <a:avLst/>
          </a:prstGeom>
          <a:solidFill>
            <a:srgbClr val="880E4F"/>
          </a:solidFill>
          <a:ln w="12700">
            <a:solidFill>
              <a:srgbClr val="880E4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2" name="Text 20"/>
          <p:cNvSpPr/>
          <p:nvPr/>
        </p:nvSpPr>
        <p:spPr>
          <a:xfrm>
            <a:off x="5065776" y="2761488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80E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versions.tf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65776" y="2990088"/>
            <a:ext cx="3703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Pins Terraform binary and provider plugin versions.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937760" y="3255264"/>
            <a:ext cx="3931920" cy="46634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5" name="Shape 23"/>
          <p:cNvSpPr/>
          <p:nvPr/>
        </p:nvSpPr>
        <p:spPr>
          <a:xfrm>
            <a:off x="4937760" y="3255264"/>
            <a:ext cx="64008" cy="466344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6" name="Text 24"/>
          <p:cNvSpPr/>
          <p:nvPr/>
        </p:nvSpPr>
        <p:spPr>
          <a:xfrm>
            <a:off x="5065776" y="3300984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14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backend.tf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65776" y="3529584"/>
            <a:ext cx="3703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state config — required for teams.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937760" y="3794760"/>
            <a:ext cx="3931920" cy="46634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9" name="Shape 27"/>
          <p:cNvSpPr/>
          <p:nvPr/>
        </p:nvSpPr>
        <p:spPr>
          <a:xfrm>
            <a:off x="4937760" y="3794760"/>
            <a:ext cx="64008" cy="466344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0" name="Text 28"/>
          <p:cNvSpPr/>
          <p:nvPr/>
        </p:nvSpPr>
        <p:spPr>
          <a:xfrm>
            <a:off x="5065776" y="3840480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51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terraform.tfvars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065776" y="4069080"/>
            <a:ext cx="3703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value assignments per environment.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937760" y="4334256"/>
            <a:ext cx="3931920" cy="46634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3" name="Shape 31"/>
          <p:cNvSpPr/>
          <p:nvPr/>
        </p:nvSpPr>
        <p:spPr>
          <a:xfrm>
            <a:off x="4937760" y="4334256"/>
            <a:ext cx="64008" cy="466344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4" name="Text 32"/>
          <p:cNvSpPr/>
          <p:nvPr/>
        </p:nvSpPr>
        <p:spPr>
          <a:xfrm>
            <a:off x="5065776" y="4379976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83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modules/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065776" y="4608576"/>
            <a:ext cx="3703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components. One module = one infrastructure unit.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+ MODEL CONTEXT PROTOCOL (MCP)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56032" y="1097280"/>
            <a:ext cx="41148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5" name="Shape 3"/>
          <p:cNvSpPr/>
          <p:nvPr/>
        </p:nvSpPr>
        <p:spPr>
          <a:xfrm>
            <a:off x="256032" y="1097280"/>
            <a:ext cx="4114800" cy="402336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3913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(CLI)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84048" y="1572768"/>
            <a:ext cx="3877056" cy="3127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coding assistant that runs in your terminal as a command-line tool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your codebase — reads files, runs commands, writes code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to external tools and APIs via the MCP (Model Context Protocol)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local LLM backends (e.g. NVIDIA NIM) instead of only cloud APIs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plan, validate, and execute Terraform operations through the Terraform MCP server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45152" y="1097280"/>
            <a:ext cx="42519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9" name="Shape 7"/>
          <p:cNvSpPr/>
          <p:nvPr/>
        </p:nvSpPr>
        <p:spPr>
          <a:xfrm>
            <a:off x="4645152" y="1097280"/>
            <a:ext cx="4251960" cy="402336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" name="Text 8"/>
          <p:cNvSpPr/>
          <p:nvPr/>
        </p:nvSpPr>
        <p:spPr>
          <a:xfrm>
            <a:off x="4754880" y="1097280"/>
            <a:ext cx="4041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 (MCP)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73168" y="157276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MCP?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73168" y="1883664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open protocol that lets AI models connect to external tools, data sources, and services through a standardised interface.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81728" y="2450592"/>
            <a:ext cx="4114800" cy="457200"/>
          </a:xfrm>
          <a:prstGeom prst="rect">
            <a:avLst/>
          </a:prstGeom>
          <a:solidFill>
            <a:srgbClr val="F8F8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4" name="Shape 12"/>
          <p:cNvSpPr/>
          <p:nvPr/>
        </p:nvSpPr>
        <p:spPr>
          <a:xfrm>
            <a:off x="4681728" y="2450592"/>
            <a:ext cx="54864" cy="457200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" name="Text 13"/>
          <p:cNvSpPr/>
          <p:nvPr/>
        </p:nvSpPr>
        <p:spPr>
          <a:xfrm>
            <a:off x="4791456" y="248716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A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Server: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791456" y="2688336"/>
            <a:ext cx="38587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Exposes tools (e.g. terraform plan) for the AI to call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81728" y="2999232"/>
            <a:ext cx="4114800" cy="457200"/>
          </a:xfrm>
          <a:prstGeom prst="rect">
            <a:avLst/>
          </a:prstGeom>
          <a:solidFill>
            <a:srgbClr val="F8F8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" name="Shape 16"/>
          <p:cNvSpPr/>
          <p:nvPr/>
        </p:nvSpPr>
        <p:spPr>
          <a:xfrm>
            <a:off x="4681728" y="2999232"/>
            <a:ext cx="54864" cy="45720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9" name="Text 17"/>
          <p:cNvSpPr/>
          <p:nvPr/>
        </p:nvSpPr>
        <p:spPr>
          <a:xfrm>
            <a:off x="4791456" y="303580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Client: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791456" y="3236976"/>
            <a:ext cx="38587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acts as the client, calling server tools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81728" y="3547872"/>
            <a:ext cx="4114800" cy="457200"/>
          </a:xfrm>
          <a:prstGeom prst="rect">
            <a:avLst/>
          </a:prstGeom>
          <a:solidFill>
            <a:srgbClr val="F8F8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2" name="Shape 20"/>
          <p:cNvSpPr/>
          <p:nvPr/>
        </p:nvSpPr>
        <p:spPr>
          <a:xfrm>
            <a:off x="4681728" y="3547872"/>
            <a:ext cx="54864" cy="457200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3" name="Text 21"/>
          <p:cNvSpPr/>
          <p:nvPr/>
        </p:nvSpPr>
        <p:spPr>
          <a:xfrm>
            <a:off x="4791456" y="358444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Transport: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791456" y="3785616"/>
            <a:ext cx="38587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stdio or HTTP — no cloud required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81728" y="4096512"/>
            <a:ext cx="4114800" cy="457200"/>
          </a:xfrm>
          <a:prstGeom prst="rect">
            <a:avLst/>
          </a:prstGeom>
          <a:solidFill>
            <a:srgbClr val="F8F8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6" name="Shape 24"/>
          <p:cNvSpPr/>
          <p:nvPr/>
        </p:nvSpPr>
        <p:spPr>
          <a:xfrm>
            <a:off x="4681728" y="4096512"/>
            <a:ext cx="54864" cy="457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7" name="Text 25"/>
          <p:cNvSpPr/>
          <p:nvPr/>
        </p:nvSpPr>
        <p:spPr>
          <a:xfrm>
            <a:off x="4791456" y="413308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791456" y="4334256"/>
            <a:ext cx="38587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can call terraform init, plan, apply via MCP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MCP SERVER — RUNNING WITH uv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56032" y="1097280"/>
            <a:ext cx="41148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5" name="Shape 3"/>
          <p:cNvSpPr/>
          <p:nvPr/>
        </p:nvSpPr>
        <p:spPr>
          <a:xfrm>
            <a:off x="256032" y="1097280"/>
            <a:ext cx="4114800" cy="402336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3913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Terraform MCP Server Provides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84048" y="1572768"/>
            <a:ext cx="3877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Exposes Terraform CLI operations as MCP tools that Claude Code can call directly: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2011680"/>
            <a:ext cx="3931920" cy="384048"/>
          </a:xfrm>
          <a:prstGeom prst="rect">
            <a:avLst/>
          </a:prstGeom>
          <a:solidFill>
            <a:srgbClr val="F0FBF9"/>
          </a:solidFill>
          <a:ln w="12700">
            <a:solidFill>
              <a:srgbClr val="B2DFD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411480" y="205740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60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terraform_init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331720" y="207568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Initialise working directory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" y="2468880"/>
            <a:ext cx="3931920" cy="384048"/>
          </a:xfrm>
          <a:prstGeom prst="rect">
            <a:avLst/>
          </a:prstGeom>
          <a:solidFill>
            <a:srgbClr val="F0FBF9"/>
          </a:solidFill>
          <a:ln w="12700">
            <a:solidFill>
              <a:srgbClr val="B2DFD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Text 10"/>
          <p:cNvSpPr/>
          <p:nvPr/>
        </p:nvSpPr>
        <p:spPr>
          <a:xfrm>
            <a:off x="411480" y="251460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60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terraform_plan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331720" y="253288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and review execution plan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2926080"/>
            <a:ext cx="3931920" cy="384048"/>
          </a:xfrm>
          <a:prstGeom prst="rect">
            <a:avLst/>
          </a:prstGeom>
          <a:solidFill>
            <a:srgbClr val="F0FBF9"/>
          </a:solidFill>
          <a:ln w="12700">
            <a:solidFill>
              <a:srgbClr val="B2DFD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" name="Text 13"/>
          <p:cNvSpPr/>
          <p:nvPr/>
        </p:nvSpPr>
        <p:spPr>
          <a:xfrm>
            <a:off x="411480" y="297180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60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terraform_apply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331720" y="299008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infrastructure changes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3383280"/>
            <a:ext cx="3931920" cy="384048"/>
          </a:xfrm>
          <a:prstGeom prst="rect">
            <a:avLst/>
          </a:prstGeom>
          <a:solidFill>
            <a:srgbClr val="F0FBF9"/>
          </a:solidFill>
          <a:ln w="12700">
            <a:solidFill>
              <a:srgbClr val="B2DFD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" name="Text 16"/>
          <p:cNvSpPr/>
          <p:nvPr/>
        </p:nvSpPr>
        <p:spPr>
          <a:xfrm>
            <a:off x="411480" y="342900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60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terraform_validate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331720" y="344728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configuration syntax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3840480"/>
            <a:ext cx="3931920" cy="384048"/>
          </a:xfrm>
          <a:prstGeom prst="rect">
            <a:avLst/>
          </a:prstGeom>
          <a:solidFill>
            <a:srgbClr val="F0FBF9"/>
          </a:solidFill>
          <a:ln w="12700">
            <a:solidFill>
              <a:srgbClr val="B2DFD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1" name="Text 19"/>
          <p:cNvSpPr/>
          <p:nvPr/>
        </p:nvSpPr>
        <p:spPr>
          <a:xfrm>
            <a:off x="411480" y="388620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60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terraform_output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331720" y="390448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output values from state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0040" y="4297680"/>
            <a:ext cx="3931920" cy="384048"/>
          </a:xfrm>
          <a:prstGeom prst="rect">
            <a:avLst/>
          </a:prstGeom>
          <a:solidFill>
            <a:srgbClr val="F0FBF9"/>
          </a:solidFill>
          <a:ln w="12700">
            <a:solidFill>
              <a:srgbClr val="B2DFD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4" name="Text 22"/>
          <p:cNvSpPr/>
          <p:nvPr/>
        </p:nvSpPr>
        <p:spPr>
          <a:xfrm>
            <a:off x="411480" y="434340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60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terraform_state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331720" y="436168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and manage state entries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45152" y="1097280"/>
            <a:ext cx="4251960" cy="3749040"/>
          </a:xfrm>
          <a:prstGeom prst="rect">
            <a:avLst/>
          </a:prstGeom>
          <a:solidFill>
            <a:srgbClr val="1E272E"/>
          </a:solidFill>
          <a:ln w="12700">
            <a:solidFill>
              <a:srgbClr val="1E272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7" name="Shape 25"/>
          <p:cNvSpPr/>
          <p:nvPr/>
        </p:nvSpPr>
        <p:spPr>
          <a:xfrm>
            <a:off x="4645152" y="1097280"/>
            <a:ext cx="4251960" cy="402336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8" name="Text 26"/>
          <p:cNvSpPr/>
          <p:nvPr/>
        </p:nvSpPr>
        <p:spPr>
          <a:xfrm>
            <a:off x="4754880" y="1097280"/>
            <a:ext cx="4041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C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claude_desktop_config.json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736592" y="1554480"/>
            <a:ext cx="4041648" cy="3218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"mcpServers":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"terraform":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"command": "uvx",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"args": [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"terraform-mcp-server"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],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"env":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"TERRAFORM_CLI_PATH":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"/usr/local/bin/terraform"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Run directly with uv: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uvx terraform-mcp-server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Or install first: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tool install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terraform-mcp-server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NIM PROXY — LOCAL LLM INFERENCE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56032" y="1097280"/>
            <a:ext cx="8631936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/>
          <p:nvPr/>
        </p:nvSpPr>
        <p:spPr>
          <a:xfrm>
            <a:off x="411480" y="1115568"/>
            <a:ext cx="8321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NIM (NVIDIA Inference Microservices) provides an OpenAI-compatible API endpoint that runs AI models locally on your GPU — no data leaves your machine.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6032" y="1874520"/>
            <a:ext cx="41148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7" name="Shape 5"/>
          <p:cNvSpPr/>
          <p:nvPr/>
        </p:nvSpPr>
        <p:spPr>
          <a:xfrm>
            <a:off x="256032" y="1874520"/>
            <a:ext cx="4114800" cy="38404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/>
          <p:nvPr/>
        </p:nvSpPr>
        <p:spPr>
          <a:xfrm>
            <a:off x="365760" y="1874520"/>
            <a:ext cx="3913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NVIDIA NIM Proxy?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84048" y="2322576"/>
            <a:ext cx="3877056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AI models on local GPU — all data stays on your workstation (air-gapped)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OpenAI-compatible REST API — Claude Code points to it as the model endpoint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models: Llama 3.x, Mistral, Qwen, CodeLlama, Deepseek Coder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this stack as the LLM backend that powers Claude Code reasoning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for enterprise environments where cloud API calls are restricted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45152" y="1874520"/>
            <a:ext cx="4251960" cy="2926080"/>
          </a:xfrm>
          <a:prstGeom prst="rect">
            <a:avLst/>
          </a:prstGeom>
          <a:solidFill>
            <a:srgbClr val="1E272E"/>
          </a:solidFill>
          <a:ln w="12700">
            <a:solidFill>
              <a:srgbClr val="1E272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Shape 9"/>
          <p:cNvSpPr/>
          <p:nvPr/>
        </p:nvSpPr>
        <p:spPr>
          <a:xfrm>
            <a:off x="4645152" y="1874520"/>
            <a:ext cx="4251960" cy="38404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Text 10"/>
          <p:cNvSpPr/>
          <p:nvPr/>
        </p:nvSpPr>
        <p:spPr>
          <a:xfrm>
            <a:off x="4754880" y="1874520"/>
            <a:ext cx="4041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Code → NIM config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36592" y="2322576"/>
            <a:ext cx="4041648" cy="2395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Point Claude Code at NIM proxy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instead of Anthropic API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ANTHROPIC_BASE_URL=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http://localhost:8000/v1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Or in claude settings: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"api_base_url":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"http://localhost:8000/v1"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Start NIM (Docker):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--gpus all -p 8000:8000 \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nvcr.io/nim/meta/llama-3.1-8b-instruct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Verify endpoint is live: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http://localhost:8000/v1/models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STACK INTEGRATION — THE COMPLETE AI-POWERED TERRAFORM WORKFLOW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27432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Shape 3"/>
          <p:cNvSpPr/>
          <p:nvPr/>
        </p:nvSpPr>
        <p:spPr>
          <a:xfrm>
            <a:off x="201168" y="1005840"/>
            <a:ext cx="1965960" cy="1353312"/>
          </a:xfrm>
          <a:prstGeom prst="rect">
            <a:avLst/>
          </a:prstGeom>
          <a:solidFill>
            <a:srgbClr val="0D2137"/>
          </a:solidFill>
          <a:ln w="19050">
            <a:solidFill>
              <a:srgbClr val="37474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Shape 4"/>
          <p:cNvSpPr/>
          <p:nvPr/>
        </p:nvSpPr>
        <p:spPr>
          <a:xfrm>
            <a:off x="201168" y="1005840"/>
            <a:ext cx="1965960" cy="347472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256032" y="1005840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DEVELOPER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" y="1408176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natural language
prompts in terminal
No Terraform syntax
expertise needed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167128" y="1682496"/>
            <a:ext cx="384048" cy="0"/>
          </a:xfrm>
          <a:prstGeom prst="line">
            <a:avLst/>
          </a:prstGeom>
          <a:noFill/>
          <a:ln w="254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" name="Text 8"/>
          <p:cNvSpPr/>
          <p:nvPr/>
        </p:nvSpPr>
        <p:spPr>
          <a:xfrm>
            <a:off x="2093976" y="1436914"/>
            <a:ext cx="53949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551176" y="1005840"/>
            <a:ext cx="2331720" cy="1353312"/>
          </a:xfrm>
          <a:prstGeom prst="rect">
            <a:avLst/>
          </a:prstGeom>
          <a:solidFill>
            <a:srgbClr val="0D2137"/>
          </a:solidFill>
          <a:ln w="1905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Shape 10"/>
          <p:cNvSpPr/>
          <p:nvPr/>
        </p:nvSpPr>
        <p:spPr>
          <a:xfrm>
            <a:off x="2551176" y="1005840"/>
            <a:ext cx="2331720" cy="347472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" name="Text 11"/>
          <p:cNvSpPr/>
          <p:nvPr/>
        </p:nvSpPr>
        <p:spPr>
          <a:xfrm>
            <a:off x="2633472" y="1005840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CLAUDE CODE (CLI)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633472" y="1408176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reasoning engine
Understands Terraform
Calls MCP tools
Runs on: Claude Sonnet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882896" y="1682496"/>
            <a:ext cx="457200" cy="0"/>
          </a:xfrm>
          <a:prstGeom prst="line">
            <a:avLst/>
          </a:prstGeom>
          <a:noFill/>
          <a:ln w="25400">
            <a:solidFill>
              <a:srgbClr val="76B90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6" name="Text 14"/>
          <p:cNvSpPr/>
          <p:nvPr/>
        </p:nvSpPr>
        <p:spPr>
          <a:xfrm>
            <a:off x="4882896" y="145846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calls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5340096" y="1005840"/>
            <a:ext cx="2331720" cy="1353312"/>
          </a:xfrm>
          <a:prstGeom prst="rect">
            <a:avLst/>
          </a:prstGeom>
          <a:solidFill>
            <a:srgbClr val="0D2137"/>
          </a:solidFill>
          <a:ln w="19050">
            <a:solidFill>
              <a:srgbClr val="76B90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" name="Shape 16"/>
          <p:cNvSpPr/>
          <p:nvPr/>
        </p:nvSpPr>
        <p:spPr>
          <a:xfrm>
            <a:off x="5340096" y="1005840"/>
            <a:ext cx="2331720" cy="347472"/>
          </a:xfrm>
          <a:prstGeom prst="rect">
            <a:avLst/>
          </a:prstGeom>
          <a:solidFill>
            <a:srgbClr val="1A3A00"/>
          </a:solidFill>
          <a:ln w="12700">
            <a:solidFill>
              <a:srgbClr val="76B90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9" name="Text 17"/>
          <p:cNvSpPr/>
          <p:nvPr/>
        </p:nvSpPr>
        <p:spPr>
          <a:xfrm>
            <a:off x="5431536" y="1005840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NVIDIA NIM PROXY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31536" y="1408176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LLM inference
GPU-accelerated
OpenAI-compatible API
No cloud data egress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671816" y="1005840"/>
            <a:ext cx="1261872" cy="1353312"/>
          </a:xfrm>
          <a:prstGeom prst="rect">
            <a:avLst/>
          </a:prstGeom>
          <a:solidFill>
            <a:srgbClr val="1A1A2E"/>
          </a:solidFill>
          <a:ln w="19050">
            <a:solidFill>
              <a:srgbClr val="5C6BC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2" name="Shape 20"/>
          <p:cNvSpPr/>
          <p:nvPr/>
        </p:nvSpPr>
        <p:spPr>
          <a:xfrm>
            <a:off x="7671816" y="1005840"/>
            <a:ext cx="1261872" cy="347472"/>
          </a:xfrm>
          <a:prstGeom prst="rect">
            <a:avLst/>
          </a:prstGeom>
          <a:solidFill>
            <a:srgbClr val="311B92"/>
          </a:solidFill>
          <a:ln w="12700">
            <a:solidFill>
              <a:srgbClr val="311B9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3" name="Text 21"/>
          <p:cNvSpPr/>
          <p:nvPr/>
        </p:nvSpPr>
        <p:spPr>
          <a:xfrm>
            <a:off x="7735824" y="1005840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735824" y="1408176"/>
            <a:ext cx="11155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39D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pkg
manager
Runs MCP
server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712464" y="2359152"/>
            <a:ext cx="0" cy="256032"/>
          </a:xfrm>
          <a:prstGeom prst="line">
            <a:avLst/>
          </a:prstGeom>
          <a:noFill/>
          <a:ln w="254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6" name="Text 24"/>
          <p:cNvSpPr/>
          <p:nvPr/>
        </p:nvSpPr>
        <p:spPr>
          <a:xfrm>
            <a:off x="3474720" y="241532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protocol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2551176" y="2615184"/>
            <a:ext cx="2331720" cy="1188720"/>
          </a:xfrm>
          <a:prstGeom prst="rect">
            <a:avLst/>
          </a:prstGeom>
          <a:solidFill>
            <a:srgbClr val="0D2137"/>
          </a:solidFill>
          <a:ln w="19050">
            <a:solidFill>
              <a:srgbClr val="4A148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8" name="Shape 26"/>
          <p:cNvSpPr/>
          <p:nvPr/>
        </p:nvSpPr>
        <p:spPr>
          <a:xfrm>
            <a:off x="2551176" y="2615184"/>
            <a:ext cx="2331720" cy="347472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9" name="Text 27"/>
          <p:cNvSpPr/>
          <p:nvPr/>
        </p:nvSpPr>
        <p:spPr>
          <a:xfrm>
            <a:off x="2633472" y="2615184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  TERRAFORM MCP SERVER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633472" y="301752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E9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Exposes Terraform CLI as AI tools
</a:t>
            </a:r>
            <a:r>
              <a:rPr lang="en-US" sz="800" dirty="0">
                <a:solidFill>
                  <a:srgbClr val="CE9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Launched via:  uvx terraform-mcp-server
</a:t>
            </a:r>
            <a:r>
              <a:rPr lang="en-US" sz="900" dirty="0">
                <a:solidFill>
                  <a:srgbClr val="CE9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init · plan · apply · validate · output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712464" y="3803904"/>
            <a:ext cx="0" cy="256032"/>
          </a:xfrm>
          <a:prstGeom prst="line">
            <a:avLst/>
          </a:prstGeom>
          <a:noFill/>
          <a:ln w="254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2" name="Text 30"/>
          <p:cNvSpPr/>
          <p:nvPr/>
        </p:nvSpPr>
        <p:spPr>
          <a:xfrm>
            <a:off x="3310128" y="3849624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551176" y="4059936"/>
            <a:ext cx="2331720" cy="877824"/>
          </a:xfrm>
          <a:prstGeom prst="rect">
            <a:avLst/>
          </a:prstGeom>
          <a:solidFill>
            <a:srgbClr val="0D2137"/>
          </a:solidFill>
          <a:ln w="1905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4" name="Shape 32"/>
          <p:cNvSpPr/>
          <p:nvPr/>
        </p:nvSpPr>
        <p:spPr>
          <a:xfrm>
            <a:off x="2551176" y="4059936"/>
            <a:ext cx="2331720" cy="3200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5" name="Text 33"/>
          <p:cNvSpPr/>
          <p:nvPr/>
        </p:nvSpPr>
        <p:spPr>
          <a:xfrm>
            <a:off x="2633472" y="4059936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 TERRAFORM CLI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633472" y="4416552"/>
            <a:ext cx="2148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.tf files · Manages state · Deploys infra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882896" y="4498848"/>
            <a:ext cx="1298448" cy="0"/>
          </a:xfrm>
          <a:prstGeom prst="line">
            <a:avLst/>
          </a:prstGeom>
          <a:noFill/>
          <a:ln w="254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8" name="Text 36"/>
          <p:cNvSpPr/>
          <p:nvPr/>
        </p:nvSpPr>
        <p:spPr>
          <a:xfrm>
            <a:off x="5010912" y="4343400"/>
            <a:ext cx="10424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6181344" y="4059936"/>
            <a:ext cx="2724912" cy="877824"/>
          </a:xfrm>
          <a:prstGeom prst="rect">
            <a:avLst/>
          </a:prstGeom>
          <a:solidFill>
            <a:srgbClr val="0D2137"/>
          </a:solidFill>
          <a:ln w="1905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0" name="Shape 38"/>
          <p:cNvSpPr/>
          <p:nvPr/>
        </p:nvSpPr>
        <p:spPr>
          <a:xfrm>
            <a:off x="6181344" y="4059936"/>
            <a:ext cx="2724912" cy="32004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1" name="Text 39"/>
          <p:cNvSpPr/>
          <p:nvPr/>
        </p:nvSpPr>
        <p:spPr>
          <a:xfrm>
            <a:off x="6254496" y="4059936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  CLOUD INFRASTRUCTURE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254496" y="4416552"/>
            <a:ext cx="25786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 ·  AWS  ·  GCP  ·  VMware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01168" y="2743200"/>
            <a:ext cx="1965960" cy="2194560"/>
          </a:xfrm>
          <a:prstGeom prst="rect">
            <a:avLst/>
          </a:prstGeom>
          <a:solidFill>
            <a:srgbClr val="0D2137"/>
          </a:solidFill>
          <a:ln w="19050">
            <a:solidFill>
              <a:srgbClr val="B71C1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4" name="Shape 42"/>
          <p:cNvSpPr/>
          <p:nvPr/>
        </p:nvSpPr>
        <p:spPr>
          <a:xfrm>
            <a:off x="201168" y="2743200"/>
            <a:ext cx="1965960" cy="347472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5" name="Text 43"/>
          <p:cNvSpPr/>
          <p:nvPr/>
        </p:nvSpPr>
        <p:spPr>
          <a:xfrm>
            <a:off x="274320" y="27432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STATE MGMT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274320" y="3127248"/>
            <a:ext cx="1783080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terraform.tfstate
.terraform.lock.hcl
</a:t>
            </a:r>
            <a:r>
              <a:rPr lang="en-US" sz="900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Remote: Azure Blob
Locking: auto
</a:t>
            </a:r>
            <a:r>
              <a:rPr lang="en-US" sz="900" b="1" dirty="0">
                <a:solidFill>
                  <a:srgbClr val="FF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commit to git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420643-C9FB-BE12-8072-3163445ED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8A5F779-99CF-05F5-0514-CA72B3525A23}"/>
              </a:ext>
            </a:extLst>
          </p:cNvPr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534ECC4-4AAF-752C-47E2-AA3AC508F164}"/>
              </a:ext>
            </a:extLst>
          </p:cNvPr>
          <p:cNvSpPr/>
          <p:nvPr/>
        </p:nvSpPr>
        <p:spPr>
          <a:xfrm>
            <a:off x="2346960" y="1725930"/>
            <a:ext cx="7835705" cy="8458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5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C10EE2A-274A-1AB7-F026-2A980700E0F8}"/>
              </a:ext>
            </a:extLst>
          </p:cNvPr>
          <p:cNvSpPr/>
          <p:nvPr/>
        </p:nvSpPr>
        <p:spPr>
          <a:xfrm>
            <a:off x="548640" y="73838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kern="0" spc="500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FUNDAMENTALS + AI STACK</a:t>
            </a:r>
            <a:endParaRPr lang="en-US" sz="13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B5A31D2-D173-F615-1FC3-CB10FAB0B72A}"/>
              </a:ext>
            </a:extLst>
          </p:cNvPr>
          <p:cNvSpPr/>
          <p:nvPr/>
        </p:nvSpPr>
        <p:spPr>
          <a:xfrm>
            <a:off x="640080" y="1044529"/>
            <a:ext cx="8229600" cy="36576"/>
          </a:xfrm>
          <a:prstGeom prst="rect">
            <a:avLst/>
          </a:prstGeom>
          <a:solidFill>
            <a:srgbClr val="263238"/>
          </a:solidFill>
          <a:ln w="12700">
            <a:solidFill>
              <a:srgbClr val="26323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F8CBF20-5325-313E-DCA0-4A488382CCB5}"/>
              </a:ext>
            </a:extLst>
          </p:cNvPr>
          <p:cNvSpPr/>
          <p:nvPr/>
        </p:nvSpPr>
        <p:spPr>
          <a:xfrm>
            <a:off x="640080" y="47365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Team  |  Internal Training</a:t>
            </a:r>
            <a:endParaRPr lang="en-US" sz="1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36146F8-2FA8-24C5-B148-3F185E9324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764" y="0"/>
            <a:ext cx="8278472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9717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C29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548640" y="20116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896112"/>
            <a:ext cx="8229600" cy="36576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512064" cy="512064"/>
          </a:xfrm>
          <a:prstGeom prst="ellipse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502920" y="10789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70432" y="1097280"/>
            <a:ext cx="7635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Terraform project needs:  main.tf  ·  variables.tf  ·  outputs.tf  ·  versions.tf  ·  backend.tf  ·  terraform.tfvars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1883664"/>
            <a:ext cx="512064" cy="512064"/>
          </a:xfrm>
          <a:prstGeom prst="ellipse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502920" y="188366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70432" y="1901952"/>
            <a:ext cx="7635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init creates .terraform/ and .terraform.lock.hcl — commit the lock file, never the folder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02920" y="2688336"/>
            <a:ext cx="512064" cy="512064"/>
          </a:xfrm>
          <a:prstGeom prst="ellipse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Text 10"/>
          <p:cNvSpPr/>
          <p:nvPr/>
        </p:nvSpPr>
        <p:spPr>
          <a:xfrm>
            <a:off x="502920" y="268833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70432" y="2706624"/>
            <a:ext cx="7635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apply creates terraform.tfstate — the most critical file — store remotely, never in git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3493008"/>
            <a:ext cx="512064" cy="512064"/>
          </a:xfrm>
          <a:prstGeom prst="ellipse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" name="Text 13"/>
          <p:cNvSpPr/>
          <p:nvPr/>
        </p:nvSpPr>
        <p:spPr>
          <a:xfrm>
            <a:off x="502920" y="34930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70432" y="3511296"/>
            <a:ext cx="7635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workflow is always:  init → fmt → validate → plan → apply  — never skip reviewing the plan output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02920" y="4297680"/>
            <a:ext cx="512064" cy="512064"/>
          </a:xfrm>
          <a:prstGeom prst="ellipse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" name="Text 16"/>
          <p:cNvSpPr/>
          <p:nvPr/>
        </p:nvSpPr>
        <p:spPr>
          <a:xfrm>
            <a:off x="502920" y="42976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70432" y="4315968"/>
            <a:ext cx="7635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0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+ Terraform MCP Server + NVIDIA NIM Proxy = AI-assisted IaC on your local machine with no data leaving your environment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640080" y="54639"/>
            <a:ext cx="8046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Tips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640080" y="941734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kern="0" spc="500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Platform to Practice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255542"/>
            <a:ext cx="8229600" cy="36576"/>
          </a:xfrm>
          <a:prstGeom prst="rect">
            <a:avLst/>
          </a:prstGeom>
          <a:solidFill>
            <a:srgbClr val="263238"/>
          </a:solidFill>
          <a:ln w="12700">
            <a:solidFill>
              <a:srgbClr val="26323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640080" y="47365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Team  |  Internal Training</a:t>
            </a:r>
            <a:endParaRPr lang="en-US" sz="1000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365D20E-B05A-A977-8DBA-A9600EC5D0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5931781"/>
              </p:ext>
            </p:extLst>
          </p:nvPr>
        </p:nvGraphicFramePr>
        <p:xfrm>
          <a:off x="935500" y="1335180"/>
          <a:ext cx="7164755" cy="3340316"/>
        </p:xfrm>
        <a:graphic>
          <a:graphicData uri="http://schemas.openxmlformats.org/drawingml/2006/table">
            <a:tbl>
              <a:tblPr firstRow="1" bandRow="1">
                <a:tableStyleId>{125E5076-3810-47DD-B79F-674D7AD40C01}</a:tableStyleId>
              </a:tblPr>
              <a:tblGrid>
                <a:gridCol w="1351280">
                  <a:extLst>
                    <a:ext uri="{9D8B030D-6E8A-4147-A177-3AD203B41FA5}">
                      <a16:colId xmlns:a16="http://schemas.microsoft.com/office/drawing/2014/main" val="3574797562"/>
                    </a:ext>
                  </a:extLst>
                </a:gridCol>
                <a:gridCol w="1937825">
                  <a:extLst>
                    <a:ext uri="{9D8B030D-6E8A-4147-A177-3AD203B41FA5}">
                      <a16:colId xmlns:a16="http://schemas.microsoft.com/office/drawing/2014/main" val="1141267328"/>
                    </a:ext>
                  </a:extLst>
                </a:gridCol>
                <a:gridCol w="1937825">
                  <a:extLst>
                    <a:ext uri="{9D8B030D-6E8A-4147-A177-3AD203B41FA5}">
                      <a16:colId xmlns:a16="http://schemas.microsoft.com/office/drawing/2014/main" val="1297619649"/>
                    </a:ext>
                  </a:extLst>
                </a:gridCol>
                <a:gridCol w="1937825">
                  <a:extLst>
                    <a:ext uri="{9D8B030D-6E8A-4147-A177-3AD203B41FA5}">
                      <a16:colId xmlns:a16="http://schemas.microsoft.com/office/drawing/2014/main" val="3940755232"/>
                    </a:ext>
                  </a:extLst>
                </a:gridCol>
              </a:tblGrid>
              <a:tr h="2726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100" dirty="0"/>
                        <a:t>Platform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100"/>
                        <a:t>Cost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100"/>
                        <a:t>Setup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100"/>
                        <a:t>Cloud Type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2454391"/>
                  </a:ext>
                </a:extLst>
              </a:tr>
              <a:tr h="6816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100" b="1" dirty="0" err="1"/>
                        <a:t>HashiCorp</a:t>
                      </a:r>
                      <a:r>
                        <a:rPr lang="en-AU" sz="1100" b="1" dirty="0"/>
                        <a:t> Sandbox</a:t>
                      </a:r>
                    </a:p>
                    <a:p>
                      <a:pPr>
                        <a:buNone/>
                      </a:pPr>
                      <a:endParaRPr lang="en-AU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100" dirty="0"/>
                        <a:t>✅ Free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100"/>
                        <a:t>None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100"/>
                        <a:t>LocalStack (AWS simulation)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46008914"/>
                  </a:ext>
                </a:extLst>
              </a:tr>
              <a:tr h="4771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100" b="1" dirty="0"/>
                        <a:t>AWS Free Tier</a:t>
                      </a:r>
                      <a:endParaRPr lang="en-AU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100"/>
                        <a:t>✅ $200 credits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100"/>
                        <a:t>5 min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100"/>
                        <a:t>Real AWS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8505814"/>
                  </a:ext>
                </a:extLst>
              </a:tr>
              <a:tr h="4771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100" b="1"/>
                        <a:t>GCP Free Trial</a:t>
                      </a:r>
                      <a:endParaRPr lang="en-AU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100"/>
                        <a:t>✅ $300 credits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100"/>
                        <a:t>5 min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100"/>
                        <a:t>Real GCP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4037885"/>
                  </a:ext>
                </a:extLst>
              </a:tr>
              <a:tr h="4771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100" b="1"/>
                        <a:t>Terraform CLI</a:t>
                      </a:r>
                      <a:endParaRPr lang="en-AU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100"/>
                        <a:t>✅ Free Forever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100"/>
                        <a:t>Your VM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100"/>
                        <a:t>Local/Real clouds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97264294"/>
                  </a:ext>
                </a:extLst>
              </a:tr>
              <a:tr h="4771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100" b="1"/>
                        <a:t>Learn Git Branching</a:t>
                      </a:r>
                      <a:endParaRPr lang="en-AU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100"/>
                        <a:t>✅ Free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100"/>
                        <a:t>None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100"/>
                        <a:t>Browser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4952023"/>
                  </a:ext>
                </a:extLst>
              </a:tr>
              <a:tr h="4771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100" b="1"/>
                        <a:t>GitHub Skills</a:t>
                      </a:r>
                      <a:endParaRPr lang="en-AU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100" dirty="0"/>
                        <a:t>✅ Free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100"/>
                        <a:t>GitHub account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100" dirty="0"/>
                        <a:t>Browser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503665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580C98-3EE5-649D-EF12-B92337E16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A262F9C-E7ED-8FA5-4EFF-58F8F29FABBF}"/>
              </a:ext>
            </a:extLst>
          </p:cNvPr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B1C514B-B70A-CD7E-3233-DBE09070D6EF}"/>
              </a:ext>
            </a:extLst>
          </p:cNvPr>
          <p:cNvSpPr/>
          <p:nvPr/>
        </p:nvSpPr>
        <p:spPr>
          <a:xfrm>
            <a:off x="640080" y="73855"/>
            <a:ext cx="7835705" cy="8458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URL</a:t>
            </a:r>
            <a:endParaRPr lang="en-US" sz="5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1392743-2E8C-B4F5-5B66-D39449455816}"/>
              </a:ext>
            </a:extLst>
          </p:cNvPr>
          <p:cNvSpPr/>
          <p:nvPr/>
        </p:nvSpPr>
        <p:spPr>
          <a:xfrm>
            <a:off x="548640" y="73838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kern="0" spc="500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FUNDAMENTALS + AI STACK</a:t>
            </a:r>
            <a:endParaRPr lang="en-US" sz="13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64729F2-249F-2C13-3D23-5B6CFB19CEC8}"/>
              </a:ext>
            </a:extLst>
          </p:cNvPr>
          <p:cNvSpPr/>
          <p:nvPr/>
        </p:nvSpPr>
        <p:spPr>
          <a:xfrm>
            <a:off x="640080" y="1044529"/>
            <a:ext cx="8229600" cy="36576"/>
          </a:xfrm>
          <a:prstGeom prst="rect">
            <a:avLst/>
          </a:prstGeom>
          <a:solidFill>
            <a:srgbClr val="263238"/>
          </a:solidFill>
          <a:ln w="12700">
            <a:solidFill>
              <a:srgbClr val="26323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A6FF5E9-DB59-43FD-24CC-C3C83052CD3F}"/>
              </a:ext>
            </a:extLst>
          </p:cNvPr>
          <p:cNvSpPr/>
          <p:nvPr/>
        </p:nvSpPr>
        <p:spPr>
          <a:xfrm>
            <a:off x="640080" y="1703840"/>
            <a:ext cx="8046720" cy="3040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</a:t>
            </a:r>
            <a:r>
              <a:rPr lang="en-AU" sz="1150" dirty="0" err="1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HashiCorp</a:t>
            </a:r>
            <a:r>
              <a:rPr lang="en-AU" sz="11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Terraform Sandbox (BEST - No Setup Required) : </a:t>
            </a:r>
            <a:r>
              <a:rPr lang="en-AU" sz="1200" dirty="0"/>
              <a:t> </a:t>
            </a:r>
            <a:r>
              <a:rPr lang="en-AU" sz="1200" dirty="0">
                <a:hlinkClick r:id="rId3"/>
              </a:rPr>
              <a:t>https://developer.hashicorp.com/terraform/tutorials/sandbox</a:t>
            </a:r>
            <a:br>
              <a:rPr lang="en-AU" sz="1200" dirty="0"/>
            </a:br>
            <a:r>
              <a:rPr lang="en-US" sz="11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</a:t>
            </a:r>
            <a:r>
              <a:rPr lang="en-AU" sz="11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Free Tier ($200 Free Credits) : </a:t>
            </a:r>
            <a:r>
              <a:rPr lang="en-AU" sz="1200" dirty="0"/>
              <a:t> </a:t>
            </a:r>
            <a:r>
              <a:rPr lang="en-AU" sz="1200" dirty="0">
                <a:hlinkClick r:id="rId4"/>
              </a:rPr>
              <a:t>https://aws.amazon.com/free/</a:t>
            </a:r>
            <a:br>
              <a:rPr lang="en-AU" sz="1200" dirty="0"/>
            </a:br>
            <a:r>
              <a:rPr lang="en-US" sz="11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</a:t>
            </a:r>
            <a:r>
              <a:rPr lang="en-AU" sz="11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 Free Trial ($300 Free Credits): </a:t>
            </a:r>
            <a:r>
              <a:rPr lang="en-AU" sz="1200" dirty="0"/>
              <a:t> </a:t>
            </a:r>
            <a:r>
              <a:rPr lang="en-AU" sz="1200" dirty="0">
                <a:hlinkClick r:id="rId5"/>
              </a:rPr>
              <a:t>https://cloud.google.com/free</a:t>
            </a:r>
            <a:br>
              <a:rPr lang="en-AU" sz="1200" dirty="0"/>
            </a:br>
            <a:r>
              <a:rPr lang="en-US" sz="11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</a:t>
            </a:r>
            <a:r>
              <a:rPr lang="en-AU" sz="11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Free Tier ($200 Free Credits) : </a:t>
            </a:r>
            <a:r>
              <a:rPr lang="en-AU" sz="1200" dirty="0"/>
              <a:t> </a:t>
            </a:r>
            <a:r>
              <a:rPr lang="en-AU" sz="1200" dirty="0">
                <a:hlinkClick r:id="rId6"/>
              </a:rPr>
              <a:t>https://azure.microsoft.com/en-au/free/</a:t>
            </a:r>
            <a:br>
              <a:rPr lang="en-AU" sz="1200" dirty="0"/>
            </a:br>
            <a:r>
              <a:rPr lang="en-US" sz="11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</a:t>
            </a:r>
            <a:r>
              <a:rPr lang="en-AU" sz="11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Git Branching (Interactive &amp; Free): </a:t>
            </a:r>
            <a:r>
              <a:rPr lang="en-AU" sz="1200" dirty="0"/>
              <a:t> </a:t>
            </a:r>
            <a:r>
              <a:rPr lang="en-AU" sz="1200" dirty="0">
                <a:hlinkClick r:id="rId7"/>
              </a:rPr>
              <a:t>https://learngitbranching.js.org/</a:t>
            </a:r>
            <a:endParaRPr lang="en-AU" sz="1200" dirty="0"/>
          </a:p>
          <a:p>
            <a:r>
              <a:rPr lang="en-US" sz="11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</a:t>
            </a:r>
            <a:r>
              <a:rPr lang="en-AU" sz="11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Skills (Official - Interactive &amp; Free) : </a:t>
            </a:r>
            <a:r>
              <a:rPr lang="en-AU" sz="1200" dirty="0">
                <a:hlinkClick r:id="rId8"/>
              </a:rPr>
              <a:t>https://github.com/skills</a:t>
            </a:r>
            <a:endParaRPr lang="en-AU" sz="1200" dirty="0"/>
          </a:p>
          <a:p>
            <a:r>
              <a:rPr lang="en-US" sz="11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</a:t>
            </a:r>
            <a:r>
              <a:rPr lang="en-AU" sz="11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 skill (Interactive &amp; Free) : https://killercoda.com/</a:t>
            </a:r>
          </a:p>
          <a:p>
            <a:endParaRPr lang="en-AU" sz="1200" dirty="0"/>
          </a:p>
          <a:p>
            <a:pPr>
              <a:spcAft>
                <a:spcPts val="800"/>
              </a:spcAft>
            </a:pPr>
            <a:r>
              <a:rPr lang="en-US" sz="11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</a:t>
            </a:r>
            <a:r>
              <a:rPr lang="en-AU" sz="11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CLI (Open Source - 100% Free Forever)</a:t>
            </a:r>
            <a:br>
              <a:rPr lang="en-AU" sz="11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1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terraform.io/docs  —  Official Terraform documentation</a:t>
            </a:r>
            <a:br>
              <a:rPr lang="en-US" sz="11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br>
              <a:rPr lang="en-US" sz="11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1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developer.hashicorp.com/terraform/tutorials  —  Hands-on labs</a:t>
            </a:r>
            <a:br>
              <a:rPr lang="en-US" sz="11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1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docs.anthropic.com/claude-code  —  Claude Code documentation</a:t>
            </a:r>
            <a:br>
              <a:rPr lang="en-US" sz="11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1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build.nvidia.com  —  NVIDIA NIM model catalogue</a:t>
            </a:r>
            <a:br>
              <a:rPr lang="en-US" sz="11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1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  modelcontextprotocol.io  —  MCP specification and servers</a:t>
            </a:r>
            <a:br>
              <a:rPr lang="en-US" sz="11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registry.terraform.io  —  Provider and module registry</a:t>
            </a:r>
            <a:b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github.com/</a:t>
            </a:r>
            <a:r>
              <a:rPr lang="en-US" sz="1100" dirty="0" err="1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en-US" sz="1100" dirty="0" err="1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gitignore</a:t>
            </a:r>
            <a: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Terraform .</a:t>
            </a:r>
            <a:r>
              <a:rPr lang="en-US" sz="1100" dirty="0" err="1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gitignore</a:t>
            </a:r>
            <a: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template</a:t>
            </a:r>
            <a:endParaRPr lang="en-US" sz="1100" dirty="0"/>
          </a:p>
          <a:p>
            <a:pPr marL="0" indent="0">
              <a:spcAft>
                <a:spcPts val="800"/>
              </a:spcAft>
              <a:buNone/>
            </a:pPr>
            <a:endParaRPr lang="en-US" sz="1150" dirty="0">
              <a:solidFill>
                <a:srgbClr val="90CAF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spcAft>
                <a:spcPts val="800"/>
              </a:spcAft>
              <a:buNone/>
            </a:pPr>
            <a:endParaRPr lang="en-US" sz="11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F05F196-66F4-7D37-1287-97AF053729AF}"/>
              </a:ext>
            </a:extLst>
          </p:cNvPr>
          <p:cNvSpPr/>
          <p:nvPr/>
        </p:nvSpPr>
        <p:spPr>
          <a:xfrm>
            <a:off x="640080" y="47365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Team  |  Internal Training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7155169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697177-1E58-660D-06D3-7DE63A187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075EA69-C01E-D542-E5EB-D0D847D467B5}"/>
              </a:ext>
            </a:extLst>
          </p:cNvPr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6CC1475-FB2C-3ECB-A92B-F6303B121C20}"/>
              </a:ext>
            </a:extLst>
          </p:cNvPr>
          <p:cNvSpPr/>
          <p:nvPr/>
        </p:nvSpPr>
        <p:spPr>
          <a:xfrm>
            <a:off x="640080" y="73855"/>
            <a:ext cx="7835705" cy="8458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 and Tricks</a:t>
            </a:r>
            <a:endParaRPr lang="en-US" sz="5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7D33C2F-F4CC-2CD6-D268-B6A449C7A0E8}"/>
              </a:ext>
            </a:extLst>
          </p:cNvPr>
          <p:cNvSpPr/>
          <p:nvPr/>
        </p:nvSpPr>
        <p:spPr>
          <a:xfrm>
            <a:off x="548640" y="1368555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kern="0" spc="500" dirty="0" err="1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VSCode</a:t>
            </a:r>
            <a:r>
              <a:rPr lang="en-US" sz="1300" kern="0" spc="500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Extensions</a:t>
            </a:r>
            <a:endParaRPr lang="en-US" sz="13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0095C597-F1D8-A6FF-215D-1347CD20F94E}"/>
              </a:ext>
            </a:extLst>
          </p:cNvPr>
          <p:cNvSpPr/>
          <p:nvPr/>
        </p:nvSpPr>
        <p:spPr>
          <a:xfrm>
            <a:off x="640080" y="1044529"/>
            <a:ext cx="8229600" cy="36576"/>
          </a:xfrm>
          <a:prstGeom prst="rect">
            <a:avLst/>
          </a:prstGeom>
          <a:solidFill>
            <a:srgbClr val="263238"/>
          </a:solidFill>
          <a:ln w="12700">
            <a:solidFill>
              <a:srgbClr val="26323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418FF77-03B9-CD0D-6DD9-C2481BC1323F}"/>
              </a:ext>
            </a:extLst>
          </p:cNvPr>
          <p:cNvSpPr/>
          <p:nvPr/>
        </p:nvSpPr>
        <p:spPr>
          <a:xfrm>
            <a:off x="640080" y="1408594"/>
            <a:ext cx="8046720" cy="3040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</a:t>
            </a:r>
            <a:r>
              <a:rPr lang="en-US" sz="115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Share</a:t>
            </a:r>
            <a:r>
              <a:rPr lang="en-US" sz="115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to share your screen with another developer</a:t>
            </a:r>
            <a:br>
              <a:rPr lang="en-US" sz="11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br>
              <a:rPr lang="en-US" sz="11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1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</a:t>
            </a:r>
            <a:r>
              <a:rPr lang="en-US" sz="115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Server</a:t>
            </a:r>
            <a:r>
              <a:rPr lang="en-US" sz="115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to Open a webpage live</a:t>
            </a:r>
            <a:br>
              <a:rPr lang="en-US" sz="11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br>
              <a:rPr lang="en-US" sz="11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1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</a:t>
            </a:r>
            <a:r>
              <a:rPr lang="en-AU" sz="115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Preview </a:t>
            </a:r>
            <a:r>
              <a:rPr lang="en-AU" sz="1150" b="1" dirty="0" err="1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r>
              <a:rPr lang="en-AU" sz="115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Styling</a:t>
            </a:r>
            <a:r>
              <a:rPr lang="en-AU" sz="115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AU" sz="11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preview your md file.</a:t>
            </a:r>
            <a:br>
              <a:rPr lang="en-AU" sz="11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br>
              <a:rPr lang="en-AU" sz="11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1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</a:t>
            </a:r>
            <a:r>
              <a:rPr lang="en-AU" sz="115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– SSH</a:t>
            </a:r>
            <a:r>
              <a:rPr lang="en-AU" sz="115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AU" sz="11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connect Linux server in VSCODE for GUI feel.</a:t>
            </a:r>
            <a:br>
              <a:rPr lang="en-AU" sz="11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br>
              <a:rPr lang="en-AU" sz="11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1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</a:t>
            </a:r>
            <a:r>
              <a:rPr lang="en-AU" sz="115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</a:t>
            </a:r>
            <a:r>
              <a:rPr lang="en-AU" sz="11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To show help for YAML format</a:t>
            </a:r>
          </a:p>
          <a:p>
            <a:endParaRPr lang="en-AU" sz="1150" dirty="0">
              <a:solidFill>
                <a:srgbClr val="90CAF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1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</a:t>
            </a:r>
            <a:r>
              <a:rPr lang="en-AU" sz="1150" b="1" dirty="0" err="1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CodeSpace</a:t>
            </a:r>
            <a:r>
              <a:rPr lang="en-AU" sz="115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(.</a:t>
            </a:r>
            <a:r>
              <a:rPr lang="en-AU" sz="1150" b="1" dirty="0" err="1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devcontainer</a:t>
            </a:r>
            <a:r>
              <a:rPr lang="en-AU" sz="115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r>
              <a:rPr lang="en-AU" sz="11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To local sandbox environment provided by </a:t>
            </a:r>
            <a:r>
              <a:rPr lang="en-AU" sz="1150" dirty="0" err="1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150" dirty="0">
              <a:solidFill>
                <a:srgbClr val="90CAF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spcAft>
                <a:spcPts val="800"/>
              </a:spcAft>
              <a:buNone/>
            </a:pPr>
            <a:endParaRPr lang="en-US" sz="11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D92EEB2-8DF5-7458-8045-748234B92D40}"/>
              </a:ext>
            </a:extLst>
          </p:cNvPr>
          <p:cNvSpPr/>
          <p:nvPr/>
        </p:nvSpPr>
        <p:spPr>
          <a:xfrm>
            <a:off x="640080" y="47365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Team  |  Internal Training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8991906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AA765D-6BB4-6328-E147-94CAB99361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2A86F4C-3A8A-4833-342E-02AE57BFD583}"/>
              </a:ext>
            </a:extLst>
          </p:cNvPr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4FD1024-C679-FDDD-0F62-885E0E597B25}"/>
              </a:ext>
            </a:extLst>
          </p:cNvPr>
          <p:cNvSpPr/>
          <p:nvPr/>
        </p:nvSpPr>
        <p:spPr>
          <a:xfrm>
            <a:off x="2346960" y="1725930"/>
            <a:ext cx="7835705" cy="8458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5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AF1D212-0AD9-0C89-D8EA-CBDDA74FED26}"/>
              </a:ext>
            </a:extLst>
          </p:cNvPr>
          <p:cNvSpPr/>
          <p:nvPr/>
        </p:nvSpPr>
        <p:spPr>
          <a:xfrm>
            <a:off x="548640" y="73838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kern="0" spc="500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FUNDAMENTALS + AI STACK</a:t>
            </a:r>
            <a:endParaRPr lang="en-US" sz="13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61B2BAEC-9A1A-A65C-471F-731E1E74CCF9}"/>
              </a:ext>
            </a:extLst>
          </p:cNvPr>
          <p:cNvSpPr/>
          <p:nvPr/>
        </p:nvSpPr>
        <p:spPr>
          <a:xfrm>
            <a:off x="640080" y="1044529"/>
            <a:ext cx="8229600" cy="36576"/>
          </a:xfrm>
          <a:prstGeom prst="rect">
            <a:avLst/>
          </a:prstGeom>
          <a:solidFill>
            <a:srgbClr val="263238"/>
          </a:solidFill>
          <a:ln w="12700">
            <a:solidFill>
              <a:srgbClr val="26323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5B64770-26A0-C79C-37BE-07725003F915}"/>
              </a:ext>
            </a:extLst>
          </p:cNvPr>
          <p:cNvSpPr/>
          <p:nvPr/>
        </p:nvSpPr>
        <p:spPr>
          <a:xfrm>
            <a:off x="640080" y="47365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Team  |  Internal Training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3465783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49</TotalTime>
  <Words>3136</Words>
  <Application>Microsoft Office PowerPoint</Application>
  <PresentationFormat>On-screen Show (16:9)</PresentationFormat>
  <Paragraphs>549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Terraform Fundamentals + AI Stack</dc:title>
  <dc:subject>PptxGenJS Presentation</dc:subject>
  <dc:creator>Infrastructure Team</dc:creator>
  <cp:lastModifiedBy>Balraj Singh</cp:lastModifiedBy>
  <cp:revision>1</cp:revision>
  <dcterms:created xsi:type="dcterms:W3CDTF">2026-05-26T20:05:45Z</dcterms:created>
  <dcterms:modified xsi:type="dcterms:W3CDTF">2026-05-28T23:03:40Z</dcterms:modified>
</cp:coreProperties>
</file>