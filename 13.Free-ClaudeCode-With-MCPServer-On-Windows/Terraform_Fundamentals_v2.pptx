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lraj Singh" userId="ebb3560a-49c8-4fe6-88be-cab19d206209" providerId="ADAL" clId="{61DE5220-E41B-45DA-B74E-167A1F9548F3}"/>
    <pc:docChg chg="modSld sldOrd">
      <pc:chgData name="Balraj Singh" userId="ebb3560a-49c8-4fe6-88be-cab19d206209" providerId="ADAL" clId="{61DE5220-E41B-45DA-B74E-167A1F9548F3}" dt="2026-05-26T23:32:25.599" v="7" actId="1076"/>
      <pc:docMkLst>
        <pc:docMk/>
      </pc:docMkLst>
      <pc:sldChg chg="modSp mod ord">
        <pc:chgData name="Balraj Singh" userId="ebb3560a-49c8-4fe6-88be-cab19d206209" providerId="ADAL" clId="{61DE5220-E41B-45DA-B74E-167A1F9548F3}" dt="2026-05-26T23:32:25.599" v="7" actId="1076"/>
        <pc:sldMkLst>
          <pc:docMk/>
          <pc:sldMk cId="0" sldId="273"/>
        </pc:sldMkLst>
        <pc:spChg chg="mod">
          <ac:chgData name="Balraj Singh" userId="ebb3560a-49c8-4fe6-88be-cab19d206209" providerId="ADAL" clId="{61DE5220-E41B-45DA-B74E-167A1F9548F3}" dt="2026-05-26T23:32:11.617" v="4" actId="14100"/>
          <ac:spMkLst>
            <pc:docMk/>
            <pc:sldMk cId="0" sldId="273"/>
            <ac:spMk id="10" creationId="{00000000-0000-0000-0000-000000000000}"/>
          </ac:spMkLst>
        </pc:spChg>
        <pc:spChg chg="mod">
          <ac:chgData name="Balraj Singh" userId="ebb3560a-49c8-4fe6-88be-cab19d206209" providerId="ADAL" clId="{61DE5220-E41B-45DA-B74E-167A1F9548F3}" dt="2026-05-26T23:32:16.444" v="5" actId="1076"/>
          <ac:spMkLst>
            <pc:docMk/>
            <pc:sldMk cId="0" sldId="273"/>
            <ac:spMk id="16" creationId="{00000000-0000-0000-0000-000000000000}"/>
          </ac:spMkLst>
        </pc:spChg>
        <pc:spChg chg="mod">
          <ac:chgData name="Balraj Singh" userId="ebb3560a-49c8-4fe6-88be-cab19d206209" providerId="ADAL" clId="{61DE5220-E41B-45DA-B74E-167A1F9548F3}" dt="2026-05-26T23:32:25.599" v="7" actId="1076"/>
          <ac:spMkLst>
            <pc:docMk/>
            <pc:sldMk cId="0" sldId="273"/>
            <ac:spMk id="26" creationId="{00000000-0000-0000-0000-000000000000}"/>
          </ac:spMkLst>
        </pc:spChg>
        <pc:spChg chg="mod">
          <ac:chgData name="Balraj Singh" userId="ebb3560a-49c8-4fe6-88be-cab19d206209" providerId="ADAL" clId="{61DE5220-E41B-45DA-B74E-167A1F9548F3}" dt="2026-05-26T23:32:21.223" v="6" actId="1076"/>
          <ac:spMkLst>
            <pc:docMk/>
            <pc:sldMk cId="0" sldId="273"/>
            <ac:spMk id="3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15952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9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256032" y="2834640"/>
            <a:ext cx="8887968" cy="4572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Text 2"/>
          <p:cNvSpPr/>
          <p:nvPr/>
        </p:nvSpPr>
        <p:spPr>
          <a:xfrm>
            <a:off x="594360" y="7772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594360" y="166420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kern="0" spc="4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94360" y="23317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 — Team Knowledge Session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303580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Files  ·  Hidden Directories  ·  Core Commands  ·  Claude Code + MCP + NVIDIA NIM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4736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Training  |  Infrastructure Team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170432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56032" y="1170432"/>
            <a:ext cx="502920" cy="65836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256032" y="117043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77824" y="1234440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Terraform?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77824" y="1517904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concept and why it matters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70432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0" name="Shape 8"/>
          <p:cNvSpPr/>
          <p:nvPr/>
        </p:nvSpPr>
        <p:spPr>
          <a:xfrm>
            <a:off x="4663440" y="1170432"/>
            <a:ext cx="502920" cy="65836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4663440" y="117043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85232" y="1234440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File Types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285232" y="1517904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.tf files and their purpose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6032" y="1929384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5" name="Shape 13"/>
          <p:cNvSpPr/>
          <p:nvPr/>
        </p:nvSpPr>
        <p:spPr>
          <a:xfrm>
            <a:off x="256032" y="1929384"/>
            <a:ext cx="502920" cy="65836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256032" y="192938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77824" y="19933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Files &amp; Folders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77824" y="2276856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.terraform/  ·  .lock.hcl  ·  tfstate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63440" y="1929384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0" name="Shape 18"/>
          <p:cNvSpPr/>
          <p:nvPr/>
        </p:nvSpPr>
        <p:spPr>
          <a:xfrm>
            <a:off x="4663440" y="1929384"/>
            <a:ext cx="502920" cy="65836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9"/>
          <p:cNvSpPr/>
          <p:nvPr/>
        </p:nvSpPr>
        <p:spPr>
          <a:xfrm>
            <a:off x="4663440" y="192938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85232" y="19933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That Create Them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85232" y="2276856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init, plan, apply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56032" y="2688336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5" name="Shape 23"/>
          <p:cNvSpPr/>
          <p:nvPr/>
        </p:nvSpPr>
        <p:spPr>
          <a:xfrm>
            <a:off x="256032" y="2688336"/>
            <a:ext cx="502920" cy="65836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Text 24"/>
          <p:cNvSpPr/>
          <p:nvPr/>
        </p:nvSpPr>
        <p:spPr>
          <a:xfrm>
            <a:off x="256032" y="268833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77824" y="275234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Terraform Workflow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77824" y="3035808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lifecycle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688336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0" name="Shape 28"/>
          <p:cNvSpPr/>
          <p:nvPr/>
        </p:nvSpPr>
        <p:spPr>
          <a:xfrm>
            <a:off x="4663440" y="2688336"/>
            <a:ext cx="502920" cy="65836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1" name="Text 29"/>
          <p:cNvSpPr/>
          <p:nvPr/>
        </p:nvSpPr>
        <p:spPr>
          <a:xfrm>
            <a:off x="4663440" y="268833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285232" y="275234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Structure &amp; .gitignore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285232" y="3035808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keep and what to exclude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032" y="3447288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5" name="Shape 33"/>
          <p:cNvSpPr/>
          <p:nvPr/>
        </p:nvSpPr>
        <p:spPr>
          <a:xfrm>
            <a:off x="256032" y="3447288"/>
            <a:ext cx="502920" cy="65836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6" name="Text 34"/>
          <p:cNvSpPr/>
          <p:nvPr/>
        </p:nvSpPr>
        <p:spPr>
          <a:xfrm>
            <a:off x="256032" y="344728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77824" y="35112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+ MCP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77824" y="3794760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Terraform with MCP protocol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447288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0" name="Shape 38"/>
          <p:cNvSpPr/>
          <p:nvPr/>
        </p:nvSpPr>
        <p:spPr>
          <a:xfrm>
            <a:off x="4663440" y="3447288"/>
            <a:ext cx="502920" cy="65836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1" name="Text 39"/>
          <p:cNvSpPr/>
          <p:nvPr/>
        </p:nvSpPr>
        <p:spPr>
          <a:xfrm>
            <a:off x="4663440" y="344728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285232" y="35112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MCP Server (uv)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285232" y="3794760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MCP server setup and tools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56032" y="4206240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5" name="Shape 43"/>
          <p:cNvSpPr/>
          <p:nvPr/>
        </p:nvSpPr>
        <p:spPr>
          <a:xfrm>
            <a:off x="256032" y="4206240"/>
            <a:ext cx="502920" cy="65836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6" name="Text 44"/>
          <p:cNvSpPr/>
          <p:nvPr/>
        </p:nvSpPr>
        <p:spPr>
          <a:xfrm>
            <a:off x="256032" y="42062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77824" y="427024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NIM Proxy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77824" y="4553712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inference layer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663440" y="4206240"/>
            <a:ext cx="4251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0" name="Shape 48"/>
          <p:cNvSpPr/>
          <p:nvPr/>
        </p:nvSpPr>
        <p:spPr>
          <a:xfrm>
            <a:off x="4663440" y="4206240"/>
            <a:ext cx="502920" cy="65836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1" name="Text 49"/>
          <p:cNvSpPr/>
          <p:nvPr/>
        </p:nvSpPr>
        <p:spPr>
          <a:xfrm>
            <a:off x="4663440" y="42062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285232" y="427024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 Integration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5285232" y="4553712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+ MCP + Claude Code + NIM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TERRAFORM?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115568"/>
            <a:ext cx="5029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/>
          <p:nvPr/>
        </p:nvSpPr>
        <p:spPr>
          <a:xfrm>
            <a:off x="438912" y="1207008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Infrastructure as Code tool by HashiCorp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38912" y="1664208"/>
            <a:ext cx="46634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declarative HCL (HashiCorp Configuration Language) — you describe WHAT you want, Terraform figures out HOW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cloud resources on AWS, Azure, GCP, and 1,000+ providers via plugins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a state file to know what infrastructure currently exists vs what is desired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are previewed safely before any real infrastructure is touched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config lives in version control — auditable, reviewable, repeatable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577840" y="1170432"/>
            <a:ext cx="32918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8" name="Shape 6"/>
          <p:cNvSpPr/>
          <p:nvPr/>
        </p:nvSpPr>
        <p:spPr>
          <a:xfrm>
            <a:off x="5577840" y="1170432"/>
            <a:ext cx="64008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5715000" y="1243584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715000" y="155448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resources in .tf files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77840" y="2066544"/>
            <a:ext cx="32918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2" name="Shape 10"/>
          <p:cNvSpPr/>
          <p:nvPr/>
        </p:nvSpPr>
        <p:spPr>
          <a:xfrm>
            <a:off x="5577840" y="2066544"/>
            <a:ext cx="64008" cy="749808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/>
          <p:nvPr/>
        </p:nvSpPr>
        <p:spPr>
          <a:xfrm>
            <a:off x="5715000" y="21396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715000" y="245059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changes — no impact yet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77840" y="2962656"/>
            <a:ext cx="32918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6" name="Shape 14"/>
          <p:cNvSpPr/>
          <p:nvPr/>
        </p:nvSpPr>
        <p:spPr>
          <a:xfrm>
            <a:off x="5577840" y="2962656"/>
            <a:ext cx="64008" cy="74980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Text 15"/>
          <p:cNvSpPr/>
          <p:nvPr/>
        </p:nvSpPr>
        <p:spPr>
          <a:xfrm>
            <a:off x="5715000" y="303580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715000" y="3346704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real cloud infrastructure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577840" y="3858768"/>
            <a:ext cx="32918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0" name="Shape 18"/>
          <p:cNvSpPr/>
          <p:nvPr/>
        </p:nvSpPr>
        <p:spPr>
          <a:xfrm>
            <a:off x="5577840" y="3858768"/>
            <a:ext cx="64008" cy="749808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9"/>
          <p:cNvSpPr/>
          <p:nvPr/>
        </p:nvSpPr>
        <p:spPr>
          <a:xfrm>
            <a:off x="5715000" y="39319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715000" y="4242816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 down managed infrastructure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FILE TYPES — OVERVIEW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1115568"/>
            <a:ext cx="4251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28600" y="1115568"/>
            <a:ext cx="4251960" cy="3657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56616" y="11155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main.tf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38328" y="1517904"/>
            <a:ext cx="4050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resource definitions. Where you declare cloud resources, data sources, locals, and module calls. Entry point of every config.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115568"/>
            <a:ext cx="4251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4709160" y="1115568"/>
            <a:ext cx="4251960" cy="365760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4837176" y="11155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variables.tf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18888" y="1517904"/>
            <a:ext cx="4050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variable declarations. Defines parameters the config accepts — name, type, description, default, and validation rules.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8600" y="2414016"/>
            <a:ext cx="4251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228600" y="2414016"/>
            <a:ext cx="4251960" cy="3657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356616" y="24140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outputs.tf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8328" y="2816352"/>
            <a:ext cx="4050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value declarations. Exports values after apply — resource IDs, IPs, connection strings — for use by humans or other modules.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414016"/>
            <a:ext cx="4251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7" name="Shape 15"/>
          <p:cNvSpPr/>
          <p:nvPr/>
        </p:nvSpPr>
        <p:spPr>
          <a:xfrm>
            <a:off x="4709160" y="2414016"/>
            <a:ext cx="4251960" cy="36576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4837176" y="24140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terraform.tfvars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18888" y="2816352"/>
            <a:ext cx="4050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values file. Assigns actual values to declared variables. Auto-loaded by Terraform. Never put secrets here.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8600" y="3712464"/>
            <a:ext cx="4251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1" name="Shape 19"/>
          <p:cNvSpPr/>
          <p:nvPr/>
        </p:nvSpPr>
        <p:spPr>
          <a:xfrm>
            <a:off x="228600" y="3712464"/>
            <a:ext cx="4251960" cy="36576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Text 20"/>
          <p:cNvSpPr/>
          <p:nvPr/>
        </p:nvSpPr>
        <p:spPr>
          <a:xfrm>
            <a:off x="356616" y="3712464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backend.tf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8328" y="4114800"/>
            <a:ext cx="4050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state configuration. Tells Terraform where to store the state file — Azure Blob, S3, Terraform Cloud, etc.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3712464"/>
            <a:ext cx="4251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5" name="Shape 23"/>
          <p:cNvSpPr/>
          <p:nvPr/>
        </p:nvSpPr>
        <p:spPr>
          <a:xfrm>
            <a:off x="4709160" y="3712464"/>
            <a:ext cx="4251960" cy="365760"/>
          </a:xfrm>
          <a:prstGeom prst="rect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Text 24"/>
          <p:cNvSpPr/>
          <p:nvPr/>
        </p:nvSpPr>
        <p:spPr>
          <a:xfrm>
            <a:off x="4837176" y="3712464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versions.tf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18888" y="4114800"/>
            <a:ext cx="4050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constraints. Pins the Terraform binary version and provider plugin versions for team reproducibility.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.tf FILES — CODE EXAMPLES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1078992"/>
            <a:ext cx="4160520" cy="3794760"/>
          </a:xfrm>
          <a:prstGeom prst="rect">
            <a:avLst/>
          </a:prstGeom>
          <a:solidFill>
            <a:srgbClr val="1E2735"/>
          </a:solidFill>
          <a:ln w="12700">
            <a:solidFill>
              <a:srgbClr val="1E2735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28600" y="1078992"/>
            <a:ext cx="4160520" cy="3840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47472" y="10789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main.tf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1517904"/>
            <a:ext cx="3950208" cy="3273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Resource block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"azurerm_resource_group" "rg"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= var.rg_name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location = var.location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tags     = local.tags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Module call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"networking"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source      = "../modules/net"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environment = var.environment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location    = var.location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Data source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"azurerm_subscription" "current" {}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Local value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locals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tags =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 = var.environment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managed_by  = "terraform"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17720" y="1078992"/>
            <a:ext cx="4251960" cy="3794760"/>
          </a:xfrm>
          <a:prstGeom prst="rect">
            <a:avLst/>
          </a:prstGeom>
          <a:solidFill>
            <a:srgbClr val="1E2735"/>
          </a:solidFill>
          <a:ln w="12700">
            <a:solidFill>
              <a:srgbClr val="1E2735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251960" cy="384048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4736592" y="107899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variables.tf  +  outputs.tf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18304" y="1517904"/>
            <a:ext cx="4041648" cy="3273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variables.tf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"environment"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description = "Deployment environment"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        = string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default     = "dev"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validation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condition = contains(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["dev", "staging", "prod"],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var.environment)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error_message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"Must be dev, staging, or prod."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"location"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description = "Azure region"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        = string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default     = "australiaeast"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outputs.tf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"resource_group_id"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description = "Resource Group ID"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value = azurerm_resource_group.rg.id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· VERSIONS · TFVARS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01168" y="1115568"/>
            <a:ext cx="2852928" cy="3730752"/>
          </a:xfrm>
          <a:prstGeom prst="rect">
            <a:avLst/>
          </a:prstGeom>
          <a:solidFill>
            <a:srgbClr val="1E2735"/>
          </a:solidFill>
          <a:ln w="12700">
            <a:solidFill>
              <a:srgbClr val="1E2735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01168" y="1115568"/>
            <a:ext cx="2852928" cy="402336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292608" y="1115568"/>
            <a:ext cx="2715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backend.tf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2608" y="1591056"/>
            <a:ext cx="2688336" cy="3163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backend "azurerm" {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resource_group_name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"rg-tfstate-prod"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storage_account_name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"stterraformstate"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container_name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"tfstate"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key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"prod/network/tf.tfstate"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use_azuread_auth = true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64408" y="1115568"/>
            <a:ext cx="2852928" cy="3730752"/>
          </a:xfrm>
          <a:prstGeom prst="rect">
            <a:avLst/>
          </a:prstGeom>
          <a:solidFill>
            <a:srgbClr val="1E2735"/>
          </a:solidFill>
          <a:ln w="12700">
            <a:solidFill>
              <a:srgbClr val="1E2735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3264408" y="1115568"/>
            <a:ext cx="2852928" cy="402336"/>
          </a:xfrm>
          <a:prstGeom prst="rect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3355848" y="1115568"/>
            <a:ext cx="2715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versions.tf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55848" y="1591056"/>
            <a:ext cx="2688336" cy="3163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required_version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"&gt;= 1.5.0"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required_providers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azurerm =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source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"hashicorp/azurerm"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version = "~&gt; 3.90"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random =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source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"hashicorp/random"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version = "~&gt; 3.5"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27648" y="1115568"/>
            <a:ext cx="2852928" cy="3730752"/>
          </a:xfrm>
          <a:prstGeom prst="rect">
            <a:avLst/>
          </a:prstGeom>
          <a:solidFill>
            <a:srgbClr val="1E2735"/>
          </a:solidFill>
          <a:ln w="12700">
            <a:solidFill>
              <a:srgbClr val="1E2735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6327648" y="1115568"/>
            <a:ext cx="2852928" cy="402336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6419088" y="1115568"/>
            <a:ext cx="2715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terraform.tfvars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19088" y="1591056"/>
            <a:ext cx="2688336" cy="3163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environment = "prod"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location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"australiaeast"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rg_name 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"rg-platform-prod"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log_retention_days = 90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─────────────────────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 NEVER put secrets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 this file!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Use Key Vault or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CI/CD environment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secrets instead.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─────────────────────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FILES &amp; FOLDERS — AUTO-CREATED BY TERRAFORM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NEVER written by hand — Terraform creates them automatically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28600" y="1417320"/>
            <a:ext cx="4251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228600" y="1417320"/>
            <a:ext cx="64008" cy="1645920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/>
          <p:nvPr/>
        </p:nvSpPr>
        <p:spPr>
          <a:xfrm>
            <a:off x="411480" y="149047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.terraform/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11480" y="1819656"/>
            <a:ext cx="1572768" cy="237744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411480" y="181965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terraform init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2130552"/>
            <a:ext cx="39593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directory in your working folder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downloaded provider plugin binaries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copies of remote modules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.gitignore — never commit this folder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1417320"/>
            <a:ext cx="4251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2" name="Shape 10"/>
          <p:cNvSpPr/>
          <p:nvPr/>
        </p:nvSpPr>
        <p:spPr>
          <a:xfrm>
            <a:off x="4709160" y="1417320"/>
            <a:ext cx="64008" cy="16459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/>
          <p:nvPr/>
        </p:nvSpPr>
        <p:spPr>
          <a:xfrm>
            <a:off x="4892040" y="149047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6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.terraform.lock.hcl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92040" y="1819656"/>
            <a:ext cx="1572768" cy="237744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4892040" y="181965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terraform init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92040" y="2130552"/>
            <a:ext cx="39593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dependency lock file (like package-lock.json)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exact provider versions and checksums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committed to source control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every team member uses identical provider versions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8600" y="3218688"/>
            <a:ext cx="4251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8" name="Shape 16"/>
          <p:cNvSpPr/>
          <p:nvPr/>
        </p:nvSpPr>
        <p:spPr>
          <a:xfrm>
            <a:off x="228600" y="3218688"/>
            <a:ext cx="64008" cy="16459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1480" y="3621024"/>
            <a:ext cx="1572768" cy="237744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9"/>
          <p:cNvSpPr/>
          <p:nvPr/>
        </p:nvSpPr>
        <p:spPr>
          <a:xfrm>
            <a:off x="411480" y="362102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terraform apply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1480" y="3931920"/>
            <a:ext cx="39593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the real state of deployed infrastructure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Terraform resource names to actual cloud resource IDs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remotely via backend.tf in team environments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sensitive data — NEVER commit to git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09160" y="3218688"/>
            <a:ext cx="4251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4" name="Shape 22"/>
          <p:cNvSpPr/>
          <p:nvPr/>
        </p:nvSpPr>
        <p:spPr>
          <a:xfrm>
            <a:off x="4709160" y="3218688"/>
            <a:ext cx="64008" cy="16459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Text 23"/>
          <p:cNvSpPr/>
          <p:nvPr/>
        </p:nvSpPr>
        <p:spPr>
          <a:xfrm>
            <a:off x="4892040" y="3291840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terraform.tfstate.backup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892040" y="3621024"/>
            <a:ext cx="1572768" cy="237744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7" name="Text 25"/>
          <p:cNvSpPr/>
          <p:nvPr/>
        </p:nvSpPr>
        <p:spPr>
          <a:xfrm>
            <a:off x="4892040" y="362102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terraform apply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92040" y="3931920"/>
            <a:ext cx="39593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state file — saved automatically before each apply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inspection if something goes wrong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the same sensitivity as terraform.tfstate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excluded from git via .gitignore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THAT CREATE HIDDEN FILES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115568"/>
            <a:ext cx="8595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74320" y="1115568"/>
            <a:ext cx="2331720" cy="1188720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47472" y="1115568"/>
            <a:ext cx="2176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init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788920" y="1207008"/>
            <a:ext cx="59436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Creates: </a:t>
            </a: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.terraform/   and   .terraform.lock.hcl
</a:t>
            </a: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provider plugins into .terraform/providers/  ·  Downloads modules into .terraform/modules/  ·  Writes exact provider version checksums into .terraform.lock.hcl  ·  Run once per project, re-run when providers or modules change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2414016"/>
            <a:ext cx="8595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274320" y="2414016"/>
            <a:ext cx="2331720" cy="1188720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347472" y="2414016"/>
            <a:ext cx="2176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plan -out=tfplan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788920" y="2505456"/>
            <a:ext cx="59436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Creates: </a:t>
            </a: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tfplan  (binary plan file — optional flag)
</a:t>
            </a: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current state + compares to your config  ·  Shows what would be created (+), changed (~), or destroyed (-)  ·  Does NOT touch real infrastructure  ·  Saving with -out=tfplan allows a safe apply without re-planning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3712464"/>
            <a:ext cx="8595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274320" y="3712464"/>
            <a:ext cx="2331720" cy="11887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347472" y="3712464"/>
            <a:ext cx="2176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apply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788920" y="3803904"/>
            <a:ext cx="59436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Creates: </a:t>
            </a: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   and   terraform.tfstate.backup
</a:t>
            </a: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or updates real cloud infrastructure  ·  Writes the new state to terraform.tfstate  ·  Saves the previous state as terraform.tfstate.backup automatically  ·  Will prompt for confirmation unless -auto-approve is passed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COMMANDS — CHEAT SHEET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111556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28600" y="1115568"/>
            <a:ext cx="54864" cy="667512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74904" y="117957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init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154680" y="1207008"/>
            <a:ext cx="1170432" cy="210312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3154680" y="120700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FIRST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74904" y="148132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Initialise working directory — downloads providers and modules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11556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1" name="Shape 9"/>
          <p:cNvSpPr/>
          <p:nvPr/>
        </p:nvSpPr>
        <p:spPr>
          <a:xfrm>
            <a:off x="4663440" y="1115568"/>
            <a:ext cx="54864" cy="667512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4809744" y="117957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C6B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fmt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589520" y="1207008"/>
            <a:ext cx="1170432" cy="210312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7589520" y="120700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COMMIT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809744" y="148132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Auto-format all .tf files to canonical HCL style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8600" y="189280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7" name="Shape 15"/>
          <p:cNvSpPr/>
          <p:nvPr/>
        </p:nvSpPr>
        <p:spPr>
          <a:xfrm>
            <a:off x="228600" y="1892808"/>
            <a:ext cx="54864" cy="667512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374904" y="195681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validate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54680" y="1984248"/>
            <a:ext cx="1170432" cy="210312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Text 18"/>
          <p:cNvSpPr/>
          <p:nvPr/>
        </p:nvSpPr>
        <p:spPr>
          <a:xfrm>
            <a:off x="3154680" y="198424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PLAN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74904" y="22585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configuration syntax without connecting to cloud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63440" y="189280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3" name="Shape 21"/>
          <p:cNvSpPr/>
          <p:nvPr/>
        </p:nvSpPr>
        <p:spPr>
          <a:xfrm>
            <a:off x="4663440" y="1892808"/>
            <a:ext cx="54864" cy="667512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Text 22"/>
          <p:cNvSpPr/>
          <p:nvPr/>
        </p:nvSpPr>
        <p:spPr>
          <a:xfrm>
            <a:off x="4809744" y="195681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83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plan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589520" y="1984248"/>
            <a:ext cx="1170432" cy="210312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Text 24"/>
          <p:cNvSpPr/>
          <p:nvPr/>
        </p:nvSpPr>
        <p:spPr>
          <a:xfrm>
            <a:off x="7589520" y="198424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CHANGES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809744" y="22585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what changes would be made — infrastructure is NOT touched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28600" y="267004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9" name="Shape 27"/>
          <p:cNvSpPr/>
          <p:nvPr/>
        </p:nvSpPr>
        <p:spPr>
          <a:xfrm>
            <a:off x="228600" y="2670048"/>
            <a:ext cx="54864" cy="667512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0" name="Text 28"/>
          <p:cNvSpPr/>
          <p:nvPr/>
        </p:nvSpPr>
        <p:spPr>
          <a:xfrm>
            <a:off x="374904" y="273405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plan -out=tfplan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154680" y="2761488"/>
            <a:ext cx="1170432" cy="210312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2" name="Text 30"/>
          <p:cNvSpPr/>
          <p:nvPr/>
        </p:nvSpPr>
        <p:spPr>
          <a:xfrm>
            <a:off x="3154680" y="276148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74904" y="303580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plan to a file for later apply or audit purposes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3440" y="267004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5" name="Shape 33"/>
          <p:cNvSpPr/>
          <p:nvPr/>
        </p:nvSpPr>
        <p:spPr>
          <a:xfrm>
            <a:off x="4663440" y="2670048"/>
            <a:ext cx="54864" cy="66751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6" name="Text 34"/>
          <p:cNvSpPr/>
          <p:nvPr/>
        </p:nvSpPr>
        <p:spPr>
          <a:xfrm>
            <a:off x="4809744" y="273405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apply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589520" y="2761488"/>
            <a:ext cx="1170432" cy="21031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8" name="Text 36"/>
          <p:cNvSpPr/>
          <p:nvPr/>
        </p:nvSpPr>
        <p:spPr>
          <a:xfrm>
            <a:off x="7589520" y="276148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809744" y="303580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infrastructure changes — prompts for confirmation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28600" y="344728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1" name="Shape 39"/>
          <p:cNvSpPr/>
          <p:nvPr/>
        </p:nvSpPr>
        <p:spPr>
          <a:xfrm>
            <a:off x="228600" y="3447288"/>
            <a:ext cx="54864" cy="66751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2" name="Text 40"/>
          <p:cNvSpPr/>
          <p:nvPr/>
        </p:nvSpPr>
        <p:spPr>
          <a:xfrm>
            <a:off x="374904" y="351129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5E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apply tfplan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154680" y="3538728"/>
            <a:ext cx="1170432" cy="21031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4" name="Text 42"/>
          <p:cNvSpPr/>
          <p:nvPr/>
        </p:nvSpPr>
        <p:spPr>
          <a:xfrm>
            <a:off x="3154680" y="353872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74904" y="381304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 previously saved plan file — no confirmation prompt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663440" y="344728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7" name="Shape 45"/>
          <p:cNvSpPr/>
          <p:nvPr/>
        </p:nvSpPr>
        <p:spPr>
          <a:xfrm>
            <a:off x="4663440" y="3447288"/>
            <a:ext cx="54864" cy="66751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8" name="Text 46"/>
          <p:cNvSpPr/>
          <p:nvPr/>
        </p:nvSpPr>
        <p:spPr>
          <a:xfrm>
            <a:off x="4809744" y="351129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destroy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589520" y="3538728"/>
            <a:ext cx="1170432" cy="21031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0" name="Text 48"/>
          <p:cNvSpPr/>
          <p:nvPr/>
        </p:nvSpPr>
        <p:spPr>
          <a:xfrm>
            <a:off x="7589520" y="353872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CAREFUL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4809744" y="381304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 down ALL infrastructure managed by this state file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228600" y="422452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3" name="Shape 51"/>
          <p:cNvSpPr/>
          <p:nvPr/>
        </p:nvSpPr>
        <p:spPr>
          <a:xfrm>
            <a:off x="228600" y="4224528"/>
            <a:ext cx="54864" cy="66751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4" name="Text 52"/>
          <p:cNvSpPr/>
          <p:nvPr/>
        </p:nvSpPr>
        <p:spPr>
          <a:xfrm>
            <a:off x="374904" y="428853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output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3154680" y="4315968"/>
            <a:ext cx="1170432" cy="21031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6" name="Text 54"/>
          <p:cNvSpPr/>
          <p:nvPr/>
        </p:nvSpPr>
        <p:spPr>
          <a:xfrm>
            <a:off x="3154680" y="431596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374904" y="45902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all output values from the current state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663440" y="4224528"/>
            <a:ext cx="420624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9" name="Shape 57"/>
          <p:cNvSpPr/>
          <p:nvPr/>
        </p:nvSpPr>
        <p:spPr>
          <a:xfrm>
            <a:off x="4663440" y="4224528"/>
            <a:ext cx="54864" cy="667512"/>
          </a:xfrm>
          <a:prstGeom prst="rect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0" name="Text 58"/>
          <p:cNvSpPr/>
          <p:nvPr/>
        </p:nvSpPr>
        <p:spPr>
          <a:xfrm>
            <a:off x="4809744" y="428853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80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state list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7589520" y="4315968"/>
            <a:ext cx="1170432" cy="210312"/>
          </a:xfrm>
          <a:prstGeom prst="rect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2" name="Text 60"/>
          <p:cNvSpPr/>
          <p:nvPr/>
        </p:nvSpPr>
        <p:spPr>
          <a:xfrm>
            <a:off x="7589520" y="4315968"/>
            <a:ext cx="11704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4809744" y="45902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all resources tracked in the state file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TERRAFORM WORKFLOW — STEP BY STEP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0116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56032" y="1115568"/>
            <a:ext cx="2011680" cy="841248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987552" y="11887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/>
          <p:nvPr/>
        </p:nvSpPr>
        <p:spPr>
          <a:xfrm>
            <a:off x="987552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29184" y="1773936"/>
            <a:ext cx="1865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7472" y="2048256"/>
            <a:ext cx="1828800" cy="49377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347472" y="20482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747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init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84048" y="2615184"/>
            <a:ext cx="1792224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providers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modules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.terraform/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.lock.hcl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67712" y="2990088"/>
            <a:ext cx="173736" cy="0"/>
          </a:xfrm>
          <a:prstGeom prst="line">
            <a:avLst/>
          </a:prstGeom>
          <a:noFill/>
          <a:ln w="3175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2450592" y="1115568"/>
            <a:ext cx="20116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4" name="Shape 12"/>
          <p:cNvSpPr/>
          <p:nvPr/>
        </p:nvSpPr>
        <p:spPr>
          <a:xfrm>
            <a:off x="2450592" y="1115568"/>
            <a:ext cx="2011680" cy="841248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Shape 13"/>
          <p:cNvSpPr/>
          <p:nvPr/>
        </p:nvSpPr>
        <p:spPr>
          <a:xfrm>
            <a:off x="3182112" y="11887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3182112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C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523744" y="1773936"/>
            <a:ext cx="1865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542032" y="2048256"/>
            <a:ext cx="1828800" cy="49377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2542032" y="20482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B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fmt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5C6B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validate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578608" y="2615184"/>
            <a:ext cx="1792224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.tf files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HCL syntax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calls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feedback loop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62272" y="2990088"/>
            <a:ext cx="173736" cy="0"/>
          </a:xfrm>
          <a:prstGeom prst="line">
            <a:avLst/>
          </a:prstGeom>
          <a:noFill/>
          <a:ln w="3175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Shape 20"/>
          <p:cNvSpPr/>
          <p:nvPr/>
        </p:nvSpPr>
        <p:spPr>
          <a:xfrm>
            <a:off x="4645152" y="1115568"/>
            <a:ext cx="20116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3" name="Shape 21"/>
          <p:cNvSpPr/>
          <p:nvPr/>
        </p:nvSpPr>
        <p:spPr>
          <a:xfrm>
            <a:off x="4645152" y="1115568"/>
            <a:ext cx="2011680" cy="841248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Shape 22"/>
          <p:cNvSpPr/>
          <p:nvPr/>
        </p:nvSpPr>
        <p:spPr>
          <a:xfrm>
            <a:off x="5376672" y="11887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Text 23"/>
          <p:cNvSpPr/>
          <p:nvPr/>
        </p:nvSpPr>
        <p:spPr>
          <a:xfrm>
            <a:off x="5376672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718304" y="1773936"/>
            <a:ext cx="1865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36592" y="2048256"/>
            <a:ext cx="1828800" cy="49377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Text 26"/>
          <p:cNvSpPr/>
          <p:nvPr/>
        </p:nvSpPr>
        <p:spPr>
          <a:xfrm>
            <a:off x="4736592" y="20482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83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plan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773168" y="2615184"/>
            <a:ext cx="1792224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state file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+ add / ~ change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- destroy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— safe!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56832" y="2990088"/>
            <a:ext cx="173736" cy="0"/>
          </a:xfrm>
          <a:prstGeom prst="line">
            <a:avLst/>
          </a:prstGeom>
          <a:noFill/>
          <a:ln w="3175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1" name="Shape 29"/>
          <p:cNvSpPr/>
          <p:nvPr/>
        </p:nvSpPr>
        <p:spPr>
          <a:xfrm>
            <a:off x="6839712" y="1115568"/>
            <a:ext cx="20116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2" name="Shape 30"/>
          <p:cNvSpPr/>
          <p:nvPr/>
        </p:nvSpPr>
        <p:spPr>
          <a:xfrm>
            <a:off x="6839712" y="1115568"/>
            <a:ext cx="2011680" cy="84124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3" name="Shape 31"/>
          <p:cNvSpPr/>
          <p:nvPr/>
        </p:nvSpPr>
        <p:spPr>
          <a:xfrm>
            <a:off x="7571232" y="11887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4" name="Text 32"/>
          <p:cNvSpPr/>
          <p:nvPr/>
        </p:nvSpPr>
        <p:spPr>
          <a:xfrm>
            <a:off x="7571232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912864" y="1773936"/>
            <a:ext cx="1865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931152" y="2048256"/>
            <a:ext cx="1828800" cy="49377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7" name="Text 35"/>
          <p:cNvSpPr/>
          <p:nvPr/>
        </p:nvSpPr>
        <p:spPr>
          <a:xfrm>
            <a:off x="6931152" y="20482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apply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967728" y="2615184"/>
            <a:ext cx="1792224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resources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tfstate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.backup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or auto-approve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65760" y="4828032"/>
            <a:ext cx="8595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final step:  terraform destroy  — tears down ALL managed infrastructure  (use with extreme caution in production)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.gitignore — COMMIT RULES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097280"/>
            <a:ext cx="4206240" cy="3749040"/>
          </a:xfrm>
          <a:prstGeom prst="rect">
            <a:avLst/>
          </a:prstGeom>
          <a:solidFill>
            <a:srgbClr val="1E272E"/>
          </a:solidFill>
          <a:ln w="12700">
            <a:solidFill>
              <a:srgbClr val="1E272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56032" y="1097280"/>
            <a:ext cx="4206240" cy="384048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C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.gitignore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536192"/>
            <a:ext cx="4005072" cy="3218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Provider plugins — machine specific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.terraform/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State files — contain secrets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terraform.tfstate.backup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*.tfstate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*.tfstate.*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Saved plan files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tfplan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*.tfplan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Auto-loaded var files (may have secrets)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*.auto.tfvars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Terraform override files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override.tf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override.tf.json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macOS / IDE clutter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.DS_Store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.idea/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*.swp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36592" y="1097280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4736592" y="1097280"/>
            <a:ext cx="822960" cy="4572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4736592" y="10972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23560" y="11338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.terraform/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23560" y="1344168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binaries, machine-specific. Re-created by terraform init.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36592" y="1627632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4" name="Shape 12"/>
          <p:cNvSpPr/>
          <p:nvPr/>
        </p:nvSpPr>
        <p:spPr>
          <a:xfrm>
            <a:off x="4736592" y="1627632"/>
            <a:ext cx="822960" cy="4572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4736592" y="162763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623560" y="166420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23560" y="1874520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resource IDs, IPs, and often passwords.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36592" y="2157984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9" name="Shape 17"/>
          <p:cNvSpPr/>
          <p:nvPr/>
        </p:nvSpPr>
        <p:spPr>
          <a:xfrm>
            <a:off x="4736592" y="2157984"/>
            <a:ext cx="822960" cy="4572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Text 18"/>
          <p:cNvSpPr/>
          <p:nvPr/>
        </p:nvSpPr>
        <p:spPr>
          <a:xfrm>
            <a:off x="4736592" y="215798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623560" y="219456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*.tfstate.backup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23560" y="2404872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sensitivity as the state file.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736592" y="2688336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4" name="Shape 22"/>
          <p:cNvSpPr/>
          <p:nvPr/>
        </p:nvSpPr>
        <p:spPr>
          <a:xfrm>
            <a:off x="4736592" y="2688336"/>
            <a:ext cx="822960" cy="4572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Text 23"/>
          <p:cNvSpPr/>
          <p:nvPr/>
        </p:nvSpPr>
        <p:spPr>
          <a:xfrm>
            <a:off x="4736592" y="26883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623560" y="2724912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*.auto.tfvars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23560" y="2935224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contain credentials if auto-loaded.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736592" y="3218688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9" name="Shape 27"/>
          <p:cNvSpPr/>
          <p:nvPr/>
        </p:nvSpPr>
        <p:spPr>
          <a:xfrm>
            <a:off x="4736592" y="3218688"/>
            <a:ext cx="82296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0" name="Text 28"/>
          <p:cNvSpPr/>
          <p:nvPr/>
        </p:nvSpPr>
        <p:spPr>
          <a:xfrm>
            <a:off x="4736592" y="32186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623560" y="325526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.terraform.lock.hcl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23560" y="3465576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identical provider versions across the team.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36592" y="3749040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4" name="Shape 32"/>
          <p:cNvSpPr/>
          <p:nvPr/>
        </p:nvSpPr>
        <p:spPr>
          <a:xfrm>
            <a:off x="4736592" y="3749040"/>
            <a:ext cx="82296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5" name="Text 33"/>
          <p:cNvSpPr/>
          <p:nvPr/>
        </p:nvSpPr>
        <p:spPr>
          <a:xfrm>
            <a:off x="4736592" y="3749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623560" y="378561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*.tf files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23560" y="3995928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Terraform code belongs in source control.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36592" y="4279392"/>
            <a:ext cx="413308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9" name="Shape 37"/>
          <p:cNvSpPr/>
          <p:nvPr/>
        </p:nvSpPr>
        <p:spPr>
          <a:xfrm>
            <a:off x="4736592" y="4279392"/>
            <a:ext cx="82296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" name="Text 38"/>
          <p:cNvSpPr/>
          <p:nvPr/>
        </p:nvSpPr>
        <p:spPr>
          <a:xfrm>
            <a:off x="4736592" y="42793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623560" y="431596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terraform.tfvars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23560" y="4526280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commit if it contains no secrets.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FOLDER STRUCTURE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097280"/>
            <a:ext cx="4389120" cy="3749040"/>
          </a:xfrm>
          <a:prstGeom prst="rect">
            <a:avLst/>
          </a:prstGeom>
          <a:solidFill>
            <a:srgbClr val="1E272E"/>
          </a:solidFill>
          <a:ln w="12700">
            <a:solidFill>
              <a:srgbClr val="1E272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56032" y="1097280"/>
            <a:ext cx="4389120" cy="384048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C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structure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536192"/>
            <a:ext cx="4169664" cy="3218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terraform-project/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main.tf         # Resources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variables.tf    # Inputs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outputs.tf      # Outputs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versions.tf     # Provider pins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backend.tf      # Remote state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terraform.tfvars# Var values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modules/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networking/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├── main.tf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├── variables.tf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└── outputs.tf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environments/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dev/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staging/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prod/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0" y="1097280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4937760" y="1097280"/>
            <a:ext cx="64008" cy="4663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5065776" y="1143000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main.tf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65776" y="1371600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point. Declares resources, data sources, module calls.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937760" y="1636776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4937760" y="1636776"/>
            <a:ext cx="64008" cy="466344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5065776" y="1682496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variables.tf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65776" y="1911096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inputs with type, description, default, and validation.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937760" y="2176272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7" name="Shape 15"/>
          <p:cNvSpPr/>
          <p:nvPr/>
        </p:nvSpPr>
        <p:spPr>
          <a:xfrm>
            <a:off x="4937760" y="2176272"/>
            <a:ext cx="64008" cy="466344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5065776" y="2221992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5E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outputs.tf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65776" y="2450592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 values for other configs or team reference.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937760" y="2715768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1" name="Shape 19"/>
          <p:cNvSpPr/>
          <p:nvPr/>
        </p:nvSpPr>
        <p:spPr>
          <a:xfrm>
            <a:off x="4937760" y="2715768"/>
            <a:ext cx="64008" cy="466344"/>
          </a:xfrm>
          <a:prstGeom prst="rect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Text 20"/>
          <p:cNvSpPr/>
          <p:nvPr/>
        </p:nvSpPr>
        <p:spPr>
          <a:xfrm>
            <a:off x="5065776" y="2761488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0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versions.tf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65776" y="2990088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Pins Terraform binary and provider plugin versions.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937760" y="3255264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5" name="Shape 23"/>
          <p:cNvSpPr/>
          <p:nvPr/>
        </p:nvSpPr>
        <p:spPr>
          <a:xfrm>
            <a:off x="4937760" y="3255264"/>
            <a:ext cx="64008" cy="466344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Text 24"/>
          <p:cNvSpPr/>
          <p:nvPr/>
        </p:nvSpPr>
        <p:spPr>
          <a:xfrm>
            <a:off x="5065776" y="3300984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14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backend.tf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65776" y="3529584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state config — required for teams.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937760" y="3794760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9" name="Shape 27"/>
          <p:cNvSpPr/>
          <p:nvPr/>
        </p:nvSpPr>
        <p:spPr>
          <a:xfrm>
            <a:off x="4937760" y="3794760"/>
            <a:ext cx="64008" cy="466344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0" name="Text 28"/>
          <p:cNvSpPr/>
          <p:nvPr/>
        </p:nvSpPr>
        <p:spPr>
          <a:xfrm>
            <a:off x="5065776" y="3840480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terraform.tfvars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65776" y="4069080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value assignments per environment.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37760" y="4334256"/>
            <a:ext cx="393192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33" name="Shape 31"/>
          <p:cNvSpPr/>
          <p:nvPr/>
        </p:nvSpPr>
        <p:spPr>
          <a:xfrm>
            <a:off x="4937760" y="4334256"/>
            <a:ext cx="64008" cy="466344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4" name="Text 32"/>
          <p:cNvSpPr/>
          <p:nvPr/>
        </p:nvSpPr>
        <p:spPr>
          <a:xfrm>
            <a:off x="5065776" y="4379976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83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modules/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065776" y="4608576"/>
            <a:ext cx="3703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components. One module = one infrastructure unit.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+ MODEL CONTEXT PROTOCOL (MCP)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097280"/>
            <a:ext cx="41148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56032" y="1097280"/>
            <a:ext cx="4114800" cy="402336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(CLI)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84048" y="1572768"/>
            <a:ext cx="3877056" cy="3127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coding assistant that runs in your terminal as a command-line tool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your codebase — reads files, runs commands, writes code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to external tools and APIs via the MCP (Model Context Protocol)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local LLM backends (e.g. NVIDIA NIM) instead of only cloud APIs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plan, validate, and execute Terraform operations through the Terraform MCP server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45152" y="1097280"/>
            <a:ext cx="42519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4645152" y="1097280"/>
            <a:ext cx="4251960" cy="402336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4754880" y="1097280"/>
            <a:ext cx="4041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(MCP)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73168" y="15727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MCP?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73168" y="1883664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protocol that lets AI models connect to external tools, data sources, and services through a standardised interface.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81728" y="2450592"/>
            <a:ext cx="4114800" cy="457200"/>
          </a:xfrm>
          <a:prstGeom prst="rect">
            <a:avLst/>
          </a:prstGeom>
          <a:solidFill>
            <a:srgbClr val="F8F8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Shape 12"/>
          <p:cNvSpPr/>
          <p:nvPr/>
        </p:nvSpPr>
        <p:spPr>
          <a:xfrm>
            <a:off x="4681728" y="2450592"/>
            <a:ext cx="54864" cy="45720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4791456" y="248716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Server: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791456" y="2688336"/>
            <a:ext cx="3858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Exposes tools (e.g. terraform plan) for the AI to call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81728" y="2999232"/>
            <a:ext cx="4114800" cy="457200"/>
          </a:xfrm>
          <a:prstGeom prst="rect">
            <a:avLst/>
          </a:prstGeom>
          <a:solidFill>
            <a:srgbClr val="F8F8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Shape 16"/>
          <p:cNvSpPr/>
          <p:nvPr/>
        </p:nvSpPr>
        <p:spPr>
          <a:xfrm>
            <a:off x="4681728" y="2999232"/>
            <a:ext cx="54864" cy="45720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4791456" y="30358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Client: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91456" y="3236976"/>
            <a:ext cx="3858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acts as the client, calling server tools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81728" y="3547872"/>
            <a:ext cx="4114800" cy="457200"/>
          </a:xfrm>
          <a:prstGeom prst="rect">
            <a:avLst/>
          </a:prstGeom>
          <a:solidFill>
            <a:srgbClr val="F8F8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Shape 20"/>
          <p:cNvSpPr/>
          <p:nvPr/>
        </p:nvSpPr>
        <p:spPr>
          <a:xfrm>
            <a:off x="4681728" y="3547872"/>
            <a:ext cx="54864" cy="457200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3" name="Text 21"/>
          <p:cNvSpPr/>
          <p:nvPr/>
        </p:nvSpPr>
        <p:spPr>
          <a:xfrm>
            <a:off x="4791456" y="358444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91456" y="3785616"/>
            <a:ext cx="3858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stdio or HTTP — no cloud required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81728" y="4096512"/>
            <a:ext cx="4114800" cy="457200"/>
          </a:xfrm>
          <a:prstGeom prst="rect">
            <a:avLst/>
          </a:prstGeom>
          <a:solidFill>
            <a:srgbClr val="F8F8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Shape 24"/>
          <p:cNvSpPr/>
          <p:nvPr/>
        </p:nvSpPr>
        <p:spPr>
          <a:xfrm>
            <a:off x="4681728" y="4096512"/>
            <a:ext cx="54864" cy="4572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7" name="Text 25"/>
          <p:cNvSpPr/>
          <p:nvPr/>
        </p:nvSpPr>
        <p:spPr>
          <a:xfrm>
            <a:off x="4791456" y="41330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91456" y="4334256"/>
            <a:ext cx="3858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call terraform init, plan, apply via MCP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MCP SERVER — RUNNING WITH uv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097280"/>
            <a:ext cx="41148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56032" y="1097280"/>
            <a:ext cx="4114800" cy="402336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Terraform MCP Server Provides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" y="1572768"/>
            <a:ext cx="3877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Exposes Terraform CLI operations as MCP tools that Claude Code can call directly: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011680"/>
            <a:ext cx="3931920" cy="384048"/>
          </a:xfrm>
          <a:prstGeom prst="rect">
            <a:avLst/>
          </a:prstGeom>
          <a:solidFill>
            <a:srgbClr val="F0FBF9"/>
          </a:solidFill>
          <a:ln w="12700">
            <a:solidFill>
              <a:srgbClr val="B2DFD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411480" y="20574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terraform_init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331720" y="20756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Initialise working directory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3931920" cy="384048"/>
          </a:xfrm>
          <a:prstGeom prst="rect">
            <a:avLst/>
          </a:prstGeom>
          <a:solidFill>
            <a:srgbClr val="F0FBF9"/>
          </a:solidFill>
          <a:ln w="12700">
            <a:solidFill>
              <a:srgbClr val="B2DFD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411480" y="25146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terraform_plan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331720" y="25328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and review execution plan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926080"/>
            <a:ext cx="3931920" cy="384048"/>
          </a:xfrm>
          <a:prstGeom prst="rect">
            <a:avLst/>
          </a:prstGeom>
          <a:solidFill>
            <a:srgbClr val="F0FBF9"/>
          </a:solidFill>
          <a:ln w="12700">
            <a:solidFill>
              <a:srgbClr val="B2DFD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411480" y="29718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terraform_apply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331720" y="29900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infrastructure changes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3383280"/>
            <a:ext cx="3931920" cy="384048"/>
          </a:xfrm>
          <a:prstGeom prst="rect">
            <a:avLst/>
          </a:prstGeom>
          <a:solidFill>
            <a:srgbClr val="F0FBF9"/>
          </a:solidFill>
          <a:ln w="12700">
            <a:solidFill>
              <a:srgbClr val="B2DFD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411480" y="34290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terraform_validate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31720" y="34472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configuration syntax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840480"/>
            <a:ext cx="3931920" cy="384048"/>
          </a:xfrm>
          <a:prstGeom prst="rect">
            <a:avLst/>
          </a:prstGeom>
          <a:solidFill>
            <a:srgbClr val="F0FBF9"/>
          </a:solidFill>
          <a:ln w="12700">
            <a:solidFill>
              <a:srgbClr val="B2DFD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Text 19"/>
          <p:cNvSpPr/>
          <p:nvPr/>
        </p:nvSpPr>
        <p:spPr>
          <a:xfrm>
            <a:off x="411480" y="38862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terraform_output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31720" y="39044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output values from state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" y="4297680"/>
            <a:ext cx="3931920" cy="384048"/>
          </a:xfrm>
          <a:prstGeom prst="rect">
            <a:avLst/>
          </a:prstGeom>
          <a:solidFill>
            <a:srgbClr val="F0FBF9"/>
          </a:solidFill>
          <a:ln w="12700">
            <a:solidFill>
              <a:srgbClr val="B2DFD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Text 22"/>
          <p:cNvSpPr/>
          <p:nvPr/>
        </p:nvSpPr>
        <p:spPr>
          <a:xfrm>
            <a:off x="411480" y="43434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terraform_state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331720" y="43616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and manage state entries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45152" y="1097280"/>
            <a:ext cx="4251960" cy="3749040"/>
          </a:xfrm>
          <a:prstGeom prst="rect">
            <a:avLst/>
          </a:prstGeom>
          <a:solidFill>
            <a:srgbClr val="1E272E"/>
          </a:solidFill>
          <a:ln w="12700">
            <a:solidFill>
              <a:srgbClr val="1E272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7" name="Shape 25"/>
          <p:cNvSpPr/>
          <p:nvPr/>
        </p:nvSpPr>
        <p:spPr>
          <a:xfrm>
            <a:off x="4645152" y="1097280"/>
            <a:ext cx="4251960" cy="402336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Text 26"/>
          <p:cNvSpPr/>
          <p:nvPr/>
        </p:nvSpPr>
        <p:spPr>
          <a:xfrm>
            <a:off x="4754880" y="1097280"/>
            <a:ext cx="4041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C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claude_desktop_config.json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36592" y="1554480"/>
            <a:ext cx="4041648" cy="3218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"mcpServers":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"terraform":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"command": "uvx",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"args": [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"terraform-mcp-server"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],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"env":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"TERRAFORM_CLI_PATH":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"/usr/local/bin/terraform"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directly with uv: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uvx terraform-mcp-server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install first: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tool install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terraform-mcp-server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NIM PROXY — LOCAL LLM INFERENCE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097280"/>
            <a:ext cx="8631936" cy="658368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/>
          <p:nvPr/>
        </p:nvSpPr>
        <p:spPr>
          <a:xfrm>
            <a:off x="411480" y="1115568"/>
            <a:ext cx="8321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NIM (NVIDIA Inference Microservices) provides an OpenAI-compatible API endpoint that runs AI models locally on your GPU — no data leaves your machine.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" y="1874520"/>
            <a:ext cx="41148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256032" y="1874520"/>
            <a:ext cx="4114800" cy="384048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365760" y="187452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NVIDIA NIM Proxy?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2322576"/>
            <a:ext cx="3877056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AI models on local GPU — all data stays on your workstation (air-gapped)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OpenAI-compatible REST API — Claude Code points to it as the model endpoint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models: Llama 3.x, Mistral, Qwen, CodeLlama, Deepseek Coder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this stack as the LLM backend that powers Claude Code reasoning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for enterprise environments where cloud API calls are restricted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45152" y="1874520"/>
            <a:ext cx="4251960" cy="2926080"/>
          </a:xfrm>
          <a:prstGeom prst="rect">
            <a:avLst/>
          </a:prstGeom>
          <a:solidFill>
            <a:srgbClr val="1E272E"/>
          </a:solidFill>
          <a:ln w="12700">
            <a:solidFill>
              <a:srgbClr val="1E272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Shape 9"/>
          <p:cNvSpPr/>
          <p:nvPr/>
        </p:nvSpPr>
        <p:spPr>
          <a:xfrm>
            <a:off x="4645152" y="1874520"/>
            <a:ext cx="4251960" cy="384048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4754880" y="1874520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 → NIM config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36592" y="2322576"/>
            <a:ext cx="4041648" cy="2395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Point Claude Code at NIM proxy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instead of Anthropic API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ANTHROPIC_BASE_URL=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http://localhost:8000/v1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in claude settings: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"api_base_url":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"http://localhost:8000/v1"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 NIM (Docker):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--gpus all -p 8000:8000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nvcr.io/nim/meta/llama-3.1-8b-instruct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Verify endpoint is live: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0CB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http://localhost:8000/v1/models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9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548640" y="20116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896112"/>
            <a:ext cx="82296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512064" cy="512064"/>
          </a:xfrm>
          <a:prstGeom prst="ellipse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70432" y="1097280"/>
            <a:ext cx="7635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Terraform project needs:  main.tf  ·  variables.tf  ·  outputs.tf  ·  versions.tf  ·  backend.tf  ·  terraform.tfvars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883664"/>
            <a:ext cx="512064" cy="512064"/>
          </a:xfrm>
          <a:prstGeom prst="ellipse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502920" y="1883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70432" y="1901952"/>
            <a:ext cx="7635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init creates .terraform/ and .terraform.lock.hcl — commit the lock file, never the folder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688336"/>
            <a:ext cx="512064" cy="512064"/>
          </a:xfrm>
          <a:prstGeom prst="ellipse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502920" y="26883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70432" y="2706624"/>
            <a:ext cx="7635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apply creates terraform.tfstate — the most critical file — store remotely, never in git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93008"/>
            <a:ext cx="512064" cy="512064"/>
          </a:xfrm>
          <a:prstGeom prst="ellipse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502920" y="34930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70432" y="3511296"/>
            <a:ext cx="7635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 is always:  init → fmt → validate → plan → apply  — never skip reviewing the plan output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297680"/>
            <a:ext cx="512064" cy="512064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/>
          <p:nvPr/>
        </p:nvSpPr>
        <p:spPr>
          <a:xfrm>
            <a:off x="502920" y="4297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70432" y="4315968"/>
            <a:ext cx="7635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0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+ Terraform MCP Server + NVIDIA NIM Proxy = AI-assisted IaC on your local machine with no data leaving your environment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 INTEGRATION — THE COMPLETE AI-POWERED TERRAFORM WORKFLOW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201168" y="1005840"/>
            <a:ext cx="1965960" cy="1353312"/>
          </a:xfrm>
          <a:prstGeom prst="rect">
            <a:avLst/>
          </a:prstGeom>
          <a:solidFill>
            <a:srgbClr val="0D2137"/>
          </a:solidFill>
          <a:ln w="1905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201168" y="1005840"/>
            <a:ext cx="1965960" cy="347472"/>
          </a:xfrm>
          <a:prstGeom prst="rect">
            <a:avLst/>
          </a:prstGeom>
          <a:solidFill>
            <a:srgbClr val="37474F"/>
          </a:solidFill>
          <a:ln w="12700">
            <a:solidFill>
              <a:srgbClr val="37474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/>
          <p:nvPr/>
        </p:nvSpPr>
        <p:spPr>
          <a:xfrm>
            <a:off x="256032" y="1005840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DEVELOPER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1408176"/>
            <a:ext cx="1783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natural language
prompts in terminal
No Terraform syntax
expertise needed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67128" y="1682496"/>
            <a:ext cx="384048" cy="0"/>
          </a:xfrm>
          <a:prstGeom prst="line">
            <a:avLst/>
          </a:prstGeom>
          <a:noFill/>
          <a:ln w="254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2093976" y="1436914"/>
            <a:ext cx="53949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51176" y="1005840"/>
            <a:ext cx="2331720" cy="1353312"/>
          </a:xfrm>
          <a:prstGeom prst="rect">
            <a:avLst/>
          </a:prstGeom>
          <a:solidFill>
            <a:srgbClr val="0D2137"/>
          </a:solidFill>
          <a:ln w="1905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Shape 10"/>
          <p:cNvSpPr/>
          <p:nvPr/>
        </p:nvSpPr>
        <p:spPr>
          <a:xfrm>
            <a:off x="2551176" y="1005840"/>
            <a:ext cx="2331720" cy="347472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/>
          <p:nvPr/>
        </p:nvSpPr>
        <p:spPr>
          <a:xfrm>
            <a:off x="2633472" y="100584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CLAUDE CODE (CLI)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633472" y="1408176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reasoning engine
Understands Terraform
Calls MCP tools
Runs on: Claude Sonnet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82896" y="1682496"/>
            <a:ext cx="457200" cy="0"/>
          </a:xfrm>
          <a:prstGeom prst="line">
            <a:avLst/>
          </a:prstGeom>
          <a:noFill/>
          <a:ln w="25400">
            <a:solidFill>
              <a:srgbClr val="76B9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/>
          <p:nvPr/>
        </p:nvSpPr>
        <p:spPr>
          <a:xfrm>
            <a:off x="4882896" y="1458468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40096" y="1005840"/>
            <a:ext cx="2331720" cy="1353312"/>
          </a:xfrm>
          <a:prstGeom prst="rect">
            <a:avLst/>
          </a:prstGeom>
          <a:solidFill>
            <a:srgbClr val="0D2137"/>
          </a:solidFill>
          <a:ln w="19050">
            <a:solidFill>
              <a:srgbClr val="76B9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Shape 16"/>
          <p:cNvSpPr/>
          <p:nvPr/>
        </p:nvSpPr>
        <p:spPr>
          <a:xfrm>
            <a:off x="5340096" y="1005840"/>
            <a:ext cx="2331720" cy="347472"/>
          </a:xfrm>
          <a:prstGeom prst="rect">
            <a:avLst/>
          </a:prstGeom>
          <a:solidFill>
            <a:srgbClr val="1A3A00"/>
          </a:solidFill>
          <a:ln w="12700">
            <a:solidFill>
              <a:srgbClr val="76B90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5431536" y="100584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NVIDIA NIM PROXY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31536" y="1408176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inference
GPU-accelerated
OpenAI-compatible API
No cloud data egress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71816" y="1005840"/>
            <a:ext cx="1261872" cy="1353312"/>
          </a:xfrm>
          <a:prstGeom prst="rect">
            <a:avLst/>
          </a:prstGeom>
          <a:solidFill>
            <a:srgbClr val="1A1A2E"/>
          </a:solidFill>
          <a:ln w="1905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Shape 20"/>
          <p:cNvSpPr/>
          <p:nvPr/>
        </p:nvSpPr>
        <p:spPr>
          <a:xfrm>
            <a:off x="7671816" y="1005840"/>
            <a:ext cx="1261872" cy="347472"/>
          </a:xfrm>
          <a:prstGeom prst="rect">
            <a:avLst/>
          </a:prstGeom>
          <a:solidFill>
            <a:srgbClr val="311B92"/>
          </a:solidFill>
          <a:ln w="12700">
            <a:solidFill>
              <a:srgbClr val="311B9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3" name="Text 21"/>
          <p:cNvSpPr/>
          <p:nvPr/>
        </p:nvSpPr>
        <p:spPr>
          <a:xfrm>
            <a:off x="7735824" y="1005840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735824" y="1408176"/>
            <a:ext cx="11155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39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pkg
manager
Runs MCP
server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12464" y="2359152"/>
            <a:ext cx="0" cy="256032"/>
          </a:xfrm>
          <a:prstGeom prst="line">
            <a:avLst/>
          </a:prstGeom>
          <a:noFill/>
          <a:ln w="254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Text 24"/>
          <p:cNvSpPr/>
          <p:nvPr/>
        </p:nvSpPr>
        <p:spPr>
          <a:xfrm>
            <a:off x="3474720" y="2415322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protocol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551176" y="2615184"/>
            <a:ext cx="2331720" cy="1188720"/>
          </a:xfrm>
          <a:prstGeom prst="rect">
            <a:avLst/>
          </a:prstGeom>
          <a:solidFill>
            <a:srgbClr val="0D2137"/>
          </a:solidFill>
          <a:ln w="1905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Shape 26"/>
          <p:cNvSpPr/>
          <p:nvPr/>
        </p:nvSpPr>
        <p:spPr>
          <a:xfrm>
            <a:off x="2551176" y="2615184"/>
            <a:ext cx="2331720" cy="347472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9" name="Text 27"/>
          <p:cNvSpPr/>
          <p:nvPr/>
        </p:nvSpPr>
        <p:spPr>
          <a:xfrm>
            <a:off x="2633472" y="2615184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TERRAFORM MCP SERVER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633472" y="301752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E9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Exposes Terraform CLI as AI tools
</a:t>
            </a:r>
            <a:r>
              <a:rPr lang="en-US" sz="800" dirty="0">
                <a:solidFill>
                  <a:srgbClr val="CE93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Launched via:  uvx terraform-mcp-server
</a:t>
            </a:r>
            <a:r>
              <a:rPr lang="en-US" sz="900" dirty="0">
                <a:solidFill>
                  <a:srgbClr val="CE9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init · plan · apply · validate · output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712464" y="3803904"/>
            <a:ext cx="0" cy="256032"/>
          </a:xfrm>
          <a:prstGeom prst="line">
            <a:avLst/>
          </a:prstGeom>
          <a:noFill/>
          <a:ln w="254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2" name="Text 30"/>
          <p:cNvSpPr/>
          <p:nvPr/>
        </p:nvSpPr>
        <p:spPr>
          <a:xfrm>
            <a:off x="3310128" y="3849624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551176" y="4059936"/>
            <a:ext cx="2331720" cy="877824"/>
          </a:xfrm>
          <a:prstGeom prst="rect">
            <a:avLst/>
          </a:prstGeom>
          <a:solidFill>
            <a:srgbClr val="0D2137"/>
          </a:solidFill>
          <a:ln w="1905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4" name="Shape 32"/>
          <p:cNvSpPr/>
          <p:nvPr/>
        </p:nvSpPr>
        <p:spPr>
          <a:xfrm>
            <a:off x="2551176" y="4059936"/>
            <a:ext cx="2331720" cy="3200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5" name="Text 33"/>
          <p:cNvSpPr/>
          <p:nvPr/>
        </p:nvSpPr>
        <p:spPr>
          <a:xfrm>
            <a:off x="2633472" y="4059936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 TERRAFORM CLI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633472" y="4416552"/>
            <a:ext cx="2148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.tf files · Manages state · Deploys infra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82896" y="4498848"/>
            <a:ext cx="1298448" cy="0"/>
          </a:xfrm>
          <a:prstGeom prst="line">
            <a:avLst/>
          </a:prstGeom>
          <a:noFill/>
          <a:ln w="254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8" name="Text 36"/>
          <p:cNvSpPr/>
          <p:nvPr/>
        </p:nvSpPr>
        <p:spPr>
          <a:xfrm>
            <a:off x="5010912" y="4343400"/>
            <a:ext cx="10424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6181344" y="4059936"/>
            <a:ext cx="2724912" cy="877824"/>
          </a:xfrm>
          <a:prstGeom prst="rect">
            <a:avLst/>
          </a:prstGeom>
          <a:solidFill>
            <a:srgbClr val="0D2137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" name="Shape 38"/>
          <p:cNvSpPr/>
          <p:nvPr/>
        </p:nvSpPr>
        <p:spPr>
          <a:xfrm>
            <a:off x="6181344" y="4059936"/>
            <a:ext cx="2724912" cy="3200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1" name="Text 39"/>
          <p:cNvSpPr/>
          <p:nvPr/>
        </p:nvSpPr>
        <p:spPr>
          <a:xfrm>
            <a:off x="6254496" y="4059936"/>
            <a:ext cx="2578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  CLOUD INFRASTRUCTURE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254496" y="4416552"/>
            <a:ext cx="25786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 ·  AWS  ·  GCP  ·  VMware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01168" y="2743200"/>
            <a:ext cx="1965960" cy="2194560"/>
          </a:xfrm>
          <a:prstGeom prst="rect">
            <a:avLst/>
          </a:prstGeom>
          <a:solidFill>
            <a:srgbClr val="0D2137"/>
          </a:solidFill>
          <a:ln w="1905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4" name="Shape 42"/>
          <p:cNvSpPr/>
          <p:nvPr/>
        </p:nvSpPr>
        <p:spPr>
          <a:xfrm>
            <a:off x="201168" y="2743200"/>
            <a:ext cx="1965960" cy="34747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5" name="Text 43"/>
          <p:cNvSpPr/>
          <p:nvPr/>
        </p:nvSpPr>
        <p:spPr>
          <a:xfrm>
            <a:off x="274320" y="274320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STATE MGMT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74320" y="3127248"/>
            <a:ext cx="1783080" cy="1719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terraform.tfstate
.terraform.lock.hcl
</a:t>
            </a:r>
            <a:r>
              <a:rPr lang="en-US" sz="900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Remote: Azure Blob
Locking: auto
</a:t>
            </a:r>
            <a:r>
              <a:rPr lang="en-US" sz="900" b="1" dirty="0">
                <a:solidFill>
                  <a:srgbClr val="F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to git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8046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kern="0" spc="5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FUNDAMENTALS + AI STACK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8229600" cy="36576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terraform.io/docs  —  Official Terraform documentation</a:t>
            </a:r>
            <a:endParaRPr lang="en-US" sz="11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developer.hashicorp.com/terraform/tutorials  —  Hands-on labs</a:t>
            </a:r>
            <a:endParaRPr lang="en-US" sz="11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docs.anthropic.com/claude-code  —  Claude Code documentation</a:t>
            </a:r>
            <a:endParaRPr lang="en-US" sz="11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build.nvidia.com  —  NVIDIA NIM model catalogue</a:t>
            </a:r>
            <a:endParaRPr lang="en-US" sz="11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modelcontextprotocol.io  —  MCP specification and servers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473659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Team  |  Internal Training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2648</Words>
  <Application>Microsoft Office PowerPoint</Application>
  <PresentationFormat>On-screen Show (16:9)</PresentationFormat>
  <Paragraphs>489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Terraform Fundamentals + AI Stack</dc:title>
  <dc:subject>PptxGenJS Presentation</dc:subject>
  <dc:creator>Infrastructure Team</dc:creator>
  <cp:lastModifiedBy>Balraj Singh</cp:lastModifiedBy>
  <cp:revision>1</cp:revision>
  <dcterms:created xsi:type="dcterms:W3CDTF">2026-05-26T20:05:45Z</dcterms:created>
  <dcterms:modified xsi:type="dcterms:W3CDTF">2026-05-26T23:32:28Z</dcterms:modified>
</cp:coreProperties>
</file>